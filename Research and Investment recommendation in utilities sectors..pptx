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14630400" cy="8229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4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403CCF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403CCF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18285" y="2508630"/>
            <a:ext cx="3706495" cy="428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49495A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403CCF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BF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304" y="1653667"/>
            <a:ext cx="13067791" cy="141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403CCF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3635" y="1986922"/>
            <a:ext cx="7583805" cy="4686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amma.app/?utm_source=made-with-gamm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5paisa.com/blog/best-utilities-stocks-in-india?utm_source=chatgpt.com" TargetMode="External"/><Relationship Id="rId3" Type="http://schemas.openxmlformats.org/officeDocument/2006/relationships/hyperlink" Target="https://en.wikipedia.org/wiki/Tata_Power?utm_source=chatgpt.com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uters.com/business/energy/indias-adani-green-aims-5-gw-clean-energy-addition-fy26-36-bln-capex-2025-04-29/?utm_source=chatgpt.com" TargetMode="External"/><Relationship Id="rId11" Type="http://schemas.openxmlformats.org/officeDocument/2006/relationships/hyperlink" Target="https://www.angelone.in/news/best-energy-stocks-for-february-2025?utm_source=chatgpt.com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hyperlink" Target="https://blog.dhan.co/top-renewable-energy-stocks-to-buy-in-2025-in-india/?utm_source=chatgpt.com" TargetMode="External"/><Relationship Id="rId9" Type="http://schemas.openxmlformats.org/officeDocument/2006/relationships/hyperlink" Target="https://appreciatewealth.com/blog/best-energy-stocks-in-india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hyperlink" Target="https://gamma.app/?utm_source=made-with-gamma" TargetMode="External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bseindia.com/" TargetMode="External"/><Relationship Id="rId5" Type="http://schemas.openxmlformats.org/officeDocument/2006/relationships/hyperlink" Target="https://www.powergridindia.com/" TargetMode="External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67958" y="1931956"/>
            <a:ext cx="7343140" cy="2796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380" dirty="0"/>
              <a:t>Research and Investment</a:t>
            </a:r>
            <a:endParaRPr spc="380" dirty="0"/>
          </a:p>
          <a:p>
            <a:pPr marL="12700" marR="5080">
              <a:lnSpc>
                <a:spcPct val="104700"/>
              </a:lnSpc>
              <a:spcBef>
                <a:spcPts val="15"/>
              </a:spcBef>
            </a:pPr>
            <a:r>
              <a:rPr spc="434" dirty="0"/>
              <a:t>Recommendations</a:t>
            </a:r>
            <a:r>
              <a:rPr spc="85" dirty="0"/>
              <a:t> </a:t>
            </a:r>
            <a:r>
              <a:rPr spc="350" dirty="0"/>
              <a:t>in</a:t>
            </a:r>
            <a:r>
              <a:rPr spc="125" dirty="0"/>
              <a:t> </a:t>
            </a:r>
            <a:r>
              <a:rPr spc="370" dirty="0"/>
              <a:t>the </a:t>
            </a:r>
            <a:r>
              <a:rPr spc="-1100" dirty="0"/>
              <a:t> </a:t>
            </a:r>
            <a:r>
              <a:rPr spc="245" dirty="0"/>
              <a:t>Utilities</a:t>
            </a:r>
            <a:r>
              <a:rPr spc="160" dirty="0"/>
              <a:t> </a:t>
            </a:r>
            <a:r>
              <a:rPr spc="405" dirty="0"/>
              <a:t>Sector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826745" y="7740650"/>
            <a:ext cx="1244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5" dirty="0">
                <a:latin typeface="Calibri"/>
                <a:cs typeface="Calibri"/>
                <a:hlinkClick r:id="rId3"/>
              </a:rPr>
              <a:t>preencoded.png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7958" y="4899152"/>
            <a:ext cx="7079615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90" dirty="0">
                <a:solidFill>
                  <a:srgbClr val="49495A"/>
                </a:solidFill>
                <a:latin typeface="Trebuchet MS"/>
                <a:cs typeface="Trebuchet MS"/>
              </a:rPr>
              <a:t>An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49495A"/>
                </a:solidFill>
                <a:latin typeface="Trebuchet MS"/>
                <a:cs typeface="Trebuchet MS"/>
              </a:rPr>
              <a:t>Analytical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49495A"/>
                </a:solidFill>
                <a:latin typeface="Trebuchet MS"/>
                <a:cs typeface="Trebuchet MS"/>
              </a:rPr>
              <a:t>Overview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of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0" dirty="0">
                <a:solidFill>
                  <a:srgbClr val="49495A"/>
                </a:solidFill>
                <a:latin typeface="Trebuchet MS"/>
                <a:cs typeface="Trebuchet MS"/>
              </a:rPr>
              <a:t>India's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0" dirty="0">
                <a:solidFill>
                  <a:srgbClr val="49495A"/>
                </a:solidFill>
                <a:latin typeface="Trebuchet MS"/>
                <a:cs typeface="Trebuchet MS"/>
              </a:rPr>
              <a:t>Power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49495A"/>
                </a:solidFill>
                <a:latin typeface="Trebuchet MS"/>
                <a:cs typeface="Trebuchet MS"/>
              </a:rPr>
              <a:t>Industry</a:t>
            </a:r>
            <a:endParaRPr sz="1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50" spc="50" dirty="0">
                <a:solidFill>
                  <a:srgbClr val="49495A"/>
                </a:solidFill>
                <a:latin typeface="Trebuchet MS"/>
                <a:cs typeface="Trebuchet MS"/>
              </a:rPr>
              <a:t>Presented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30" dirty="0">
                <a:solidFill>
                  <a:srgbClr val="49495A"/>
                </a:solidFill>
                <a:latin typeface="Trebuchet MS"/>
                <a:cs typeface="Trebuchet MS"/>
              </a:rPr>
              <a:t>by:</a:t>
            </a:r>
            <a:r>
              <a:rPr sz="1750" spc="-6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SANKALP</a:t>
            </a:r>
            <a:r>
              <a:rPr sz="1750" spc="-7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10" dirty="0">
                <a:solidFill>
                  <a:srgbClr val="49495A"/>
                </a:solidFill>
                <a:latin typeface="Trebuchet MS"/>
                <a:cs typeface="Trebuchet MS"/>
              </a:rPr>
              <a:t>KHAMKAR</a:t>
            </a:r>
            <a:r>
              <a:rPr sz="1750" spc="-5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|</a:t>
            </a:r>
            <a:r>
              <a:rPr sz="1750" spc="-7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90" dirty="0">
                <a:solidFill>
                  <a:srgbClr val="49495A"/>
                </a:solidFill>
                <a:latin typeface="Trebuchet MS"/>
                <a:cs typeface="Trebuchet MS"/>
              </a:rPr>
              <a:t>Boston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49495A"/>
                </a:solidFill>
                <a:latin typeface="Trebuchet MS"/>
                <a:cs typeface="Trebuchet MS"/>
              </a:rPr>
              <a:t>Institute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of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49495A"/>
                </a:solidFill>
                <a:latin typeface="Trebuchet MS"/>
                <a:cs typeface="Trebuchet MS"/>
              </a:rPr>
              <a:t>Analytics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|</a:t>
            </a:r>
            <a:endParaRPr sz="17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67958" y="1503680"/>
            <a:ext cx="757237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70" dirty="0"/>
              <a:t>Project</a:t>
            </a:r>
            <a:r>
              <a:rPr spc="140" dirty="0"/>
              <a:t> </a:t>
            </a:r>
            <a:r>
              <a:rPr spc="375" dirty="0"/>
              <a:t>Objective</a:t>
            </a:r>
            <a:r>
              <a:rPr spc="125" dirty="0"/>
              <a:t> </a:t>
            </a:r>
            <a:r>
              <a:rPr spc="445" dirty="0"/>
              <a:t>&amp;</a:t>
            </a:r>
            <a:r>
              <a:rPr spc="140" dirty="0"/>
              <a:t> </a:t>
            </a:r>
            <a:r>
              <a:rPr spc="434" dirty="0"/>
              <a:t>Scope</a:t>
            </a:r>
          </a:p>
        </p:txBody>
      </p:sp>
      <p:sp>
        <p:nvSpPr>
          <p:cNvPr id="5" name="object 5"/>
          <p:cNvSpPr/>
          <p:nvPr/>
        </p:nvSpPr>
        <p:spPr>
          <a:xfrm>
            <a:off x="6280150" y="2596895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40" h="510539">
                <a:moveTo>
                  <a:pt x="476376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476250"/>
                </a:lnTo>
                <a:lnTo>
                  <a:pt x="2674" y="489497"/>
                </a:lnTo>
                <a:lnTo>
                  <a:pt x="9969" y="500316"/>
                </a:lnTo>
                <a:lnTo>
                  <a:pt x="20788" y="507611"/>
                </a:lnTo>
                <a:lnTo>
                  <a:pt x="34036" y="510286"/>
                </a:lnTo>
                <a:lnTo>
                  <a:pt x="476376" y="510286"/>
                </a:lnTo>
                <a:lnTo>
                  <a:pt x="489551" y="507611"/>
                </a:lnTo>
                <a:lnTo>
                  <a:pt x="500332" y="500316"/>
                </a:lnTo>
                <a:lnTo>
                  <a:pt x="507613" y="489497"/>
                </a:lnTo>
                <a:lnTo>
                  <a:pt x="510285" y="476250"/>
                </a:lnTo>
                <a:lnTo>
                  <a:pt x="510285" y="34036"/>
                </a:lnTo>
                <a:lnTo>
                  <a:pt x="507613" y="20788"/>
                </a:lnTo>
                <a:lnTo>
                  <a:pt x="500332" y="9969"/>
                </a:lnTo>
                <a:lnTo>
                  <a:pt x="489551" y="2674"/>
                </a:lnTo>
                <a:lnTo>
                  <a:pt x="476376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6280150" y="3981703"/>
            <a:ext cx="510540" cy="510540"/>
            <a:chOff x="6280150" y="3981703"/>
            <a:chExt cx="510540" cy="510540"/>
          </a:xfrm>
        </p:grpSpPr>
        <p:sp>
          <p:nvSpPr>
            <p:cNvPr id="7" name="object 7"/>
            <p:cNvSpPr/>
            <p:nvPr/>
          </p:nvSpPr>
          <p:spPr>
            <a:xfrm>
              <a:off x="6280150" y="3981703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476376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476250"/>
                  </a:lnTo>
                  <a:lnTo>
                    <a:pt x="2674" y="489497"/>
                  </a:lnTo>
                  <a:lnTo>
                    <a:pt x="9969" y="500316"/>
                  </a:lnTo>
                  <a:lnTo>
                    <a:pt x="20788" y="507611"/>
                  </a:lnTo>
                  <a:lnTo>
                    <a:pt x="34036" y="510286"/>
                  </a:lnTo>
                  <a:lnTo>
                    <a:pt x="476376" y="510286"/>
                  </a:lnTo>
                  <a:lnTo>
                    <a:pt x="489551" y="507611"/>
                  </a:lnTo>
                  <a:lnTo>
                    <a:pt x="500332" y="500316"/>
                  </a:lnTo>
                  <a:lnTo>
                    <a:pt x="507613" y="489497"/>
                  </a:lnTo>
                  <a:lnTo>
                    <a:pt x="510285" y="476250"/>
                  </a:lnTo>
                  <a:lnTo>
                    <a:pt x="510285" y="34036"/>
                  </a:lnTo>
                  <a:lnTo>
                    <a:pt x="507613" y="20788"/>
                  </a:lnTo>
                  <a:lnTo>
                    <a:pt x="500332" y="9969"/>
                  </a:lnTo>
                  <a:lnTo>
                    <a:pt x="489551" y="2674"/>
                  </a:lnTo>
                  <a:lnTo>
                    <a:pt x="476376" y="0"/>
                  </a:lnTo>
                  <a:close/>
                </a:path>
              </a:pathLst>
            </a:custGeom>
            <a:solidFill>
              <a:srgbClr val="EAE8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5239" y="4024159"/>
              <a:ext cx="340156" cy="42528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005319" y="2650362"/>
            <a:ext cx="5962015" cy="400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80" dirty="0">
                <a:solidFill>
                  <a:srgbClr val="49495A"/>
                </a:solidFill>
                <a:latin typeface="Book Antiqua"/>
                <a:cs typeface="Book Antiqua"/>
              </a:rPr>
              <a:t>Objective</a:t>
            </a:r>
            <a:endParaRPr sz="22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5" dirty="0">
                <a:solidFill>
                  <a:srgbClr val="49495A"/>
                </a:solidFill>
                <a:latin typeface="Trebuchet MS"/>
                <a:cs typeface="Trebuchet MS"/>
              </a:rPr>
              <a:t>Identify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49495A"/>
                </a:solidFill>
                <a:latin typeface="Trebuchet MS"/>
                <a:cs typeface="Trebuchet MS"/>
              </a:rPr>
              <a:t>high-potential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companies</a:t>
            </a:r>
            <a:r>
              <a:rPr sz="1750" spc="-6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in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49495A"/>
                </a:solidFill>
                <a:latin typeface="Trebuchet MS"/>
                <a:cs typeface="Trebuchet MS"/>
              </a:rPr>
              <a:t>Indian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49495A"/>
                </a:solidFill>
                <a:latin typeface="Trebuchet MS"/>
                <a:cs typeface="Trebuchet MS"/>
              </a:rPr>
              <a:t>utilities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49495A"/>
                </a:solidFill>
                <a:latin typeface="Trebuchet MS"/>
                <a:cs typeface="Trebuchet MS"/>
              </a:rPr>
              <a:t>sector</a:t>
            </a:r>
            <a:endParaRPr sz="1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sz="2200" spc="210" dirty="0">
                <a:solidFill>
                  <a:srgbClr val="49495A"/>
                </a:solidFill>
                <a:latin typeface="Book Antiqua"/>
                <a:cs typeface="Book Antiqua"/>
              </a:rPr>
              <a:t>Scope</a:t>
            </a:r>
            <a:r>
              <a:rPr sz="2200" spc="75" dirty="0">
                <a:solidFill>
                  <a:srgbClr val="49495A"/>
                </a:solidFill>
                <a:latin typeface="Book Antiqua"/>
                <a:cs typeface="Book Antiqua"/>
              </a:rPr>
              <a:t> </a:t>
            </a:r>
            <a:r>
              <a:rPr sz="2200" spc="150" dirty="0">
                <a:solidFill>
                  <a:srgbClr val="49495A"/>
                </a:solidFill>
                <a:latin typeface="Book Antiqua"/>
                <a:cs typeface="Book Antiqua"/>
              </a:rPr>
              <a:t>Includes</a:t>
            </a:r>
            <a:endParaRPr sz="2200"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spcBef>
                <a:spcPts val="174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Sector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overview</a:t>
            </a:r>
            <a:r>
              <a:rPr sz="1750" spc="-10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85" dirty="0">
                <a:solidFill>
                  <a:srgbClr val="49495A"/>
                </a:solidFill>
                <a:latin typeface="Trebuchet MS"/>
                <a:cs typeface="Trebuchet MS"/>
              </a:rPr>
              <a:t>and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49495A"/>
                </a:solidFill>
                <a:latin typeface="Trebuchet MS"/>
                <a:cs typeface="Trebuchet MS"/>
              </a:rPr>
              <a:t>key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drivers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60" dirty="0">
                <a:solidFill>
                  <a:srgbClr val="49495A"/>
                </a:solidFill>
                <a:latin typeface="Trebuchet MS"/>
                <a:cs typeface="Trebuchet MS"/>
              </a:rPr>
              <a:t>Power</a:t>
            </a:r>
            <a:r>
              <a:rPr sz="1750" spc="-11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Purchase</a:t>
            </a:r>
            <a:r>
              <a:rPr sz="1750" spc="-12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0" dirty="0">
                <a:solidFill>
                  <a:srgbClr val="49495A"/>
                </a:solidFill>
                <a:latin typeface="Trebuchet MS"/>
                <a:cs typeface="Trebuchet MS"/>
              </a:rPr>
              <a:t>Agreements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10" dirty="0">
                <a:solidFill>
                  <a:srgbClr val="49495A"/>
                </a:solidFill>
                <a:latin typeface="Trebuchet MS"/>
                <a:cs typeface="Trebuchet MS"/>
              </a:rPr>
              <a:t>Fuel</a:t>
            </a:r>
            <a:r>
              <a:rPr sz="1750" spc="-10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source</a:t>
            </a:r>
            <a:r>
              <a:rPr sz="1750" spc="-114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5" dirty="0">
                <a:solidFill>
                  <a:srgbClr val="49495A"/>
                </a:solidFill>
                <a:latin typeface="Trebuchet MS"/>
                <a:cs typeface="Trebuchet MS"/>
              </a:rPr>
              <a:t>dependency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10" dirty="0">
                <a:solidFill>
                  <a:srgbClr val="49495A"/>
                </a:solidFill>
                <a:latin typeface="Trebuchet MS"/>
                <a:cs typeface="Trebuchet MS"/>
              </a:rPr>
              <a:t>Financial</a:t>
            </a:r>
            <a:r>
              <a:rPr sz="1750" spc="-12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health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85" dirty="0">
                <a:solidFill>
                  <a:srgbClr val="49495A"/>
                </a:solidFill>
                <a:latin typeface="Trebuchet MS"/>
                <a:cs typeface="Trebuchet MS"/>
              </a:rPr>
              <a:t>and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49495A"/>
                </a:solidFill>
                <a:latin typeface="Trebuchet MS"/>
                <a:cs typeface="Trebuchet MS"/>
              </a:rPr>
              <a:t>risk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Valuation</a:t>
            </a:r>
            <a:r>
              <a:rPr sz="1750" spc="-10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&amp;</a:t>
            </a:r>
            <a:r>
              <a:rPr sz="1750" spc="-7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49495A"/>
                </a:solidFill>
                <a:latin typeface="Trebuchet MS"/>
                <a:cs typeface="Trebuchet MS"/>
              </a:rPr>
              <a:t>investment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recommendations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26745" y="7740650"/>
            <a:ext cx="1244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5" dirty="0">
                <a:latin typeface="Calibri"/>
                <a:cs typeface="Calibri"/>
                <a:hlinkClick r:id="rId4"/>
              </a:rPr>
              <a:t>preencoded.png</a:t>
            </a:r>
            <a:endParaRPr sz="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849069"/>
            <a:ext cx="10840085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405" dirty="0"/>
              <a:t>Sector</a:t>
            </a:r>
            <a:r>
              <a:rPr spc="160" dirty="0"/>
              <a:t> </a:t>
            </a:r>
            <a:r>
              <a:rPr spc="325" dirty="0"/>
              <a:t>Overview</a:t>
            </a:r>
            <a:r>
              <a:rPr spc="130" dirty="0"/>
              <a:t> </a:t>
            </a:r>
            <a:r>
              <a:rPr spc="445" dirty="0"/>
              <a:t>&amp;</a:t>
            </a:r>
            <a:r>
              <a:rPr spc="165" dirty="0"/>
              <a:t> </a:t>
            </a:r>
            <a:r>
              <a:rPr spc="360" dirty="0"/>
              <a:t>Market</a:t>
            </a:r>
            <a:r>
              <a:rPr spc="140" dirty="0"/>
              <a:t> </a:t>
            </a:r>
            <a:r>
              <a:rPr spc="400" dirty="0"/>
              <a:t>Dynamics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826745" y="7740650"/>
            <a:ext cx="1244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5" dirty="0">
                <a:latin typeface="Calibri"/>
                <a:cs typeface="Calibri"/>
                <a:hlinkClick r:id="rId2"/>
              </a:rPr>
              <a:t>preencoded.png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304" y="3145281"/>
            <a:ext cx="4732655" cy="1824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95" dirty="0">
                <a:solidFill>
                  <a:srgbClr val="403CCF"/>
                </a:solidFill>
                <a:latin typeface="Book Antiqua"/>
                <a:cs typeface="Book Antiqua"/>
              </a:rPr>
              <a:t>Sector</a:t>
            </a:r>
            <a:r>
              <a:rPr sz="2200" spc="85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spc="204" dirty="0">
                <a:solidFill>
                  <a:srgbClr val="403CCF"/>
                </a:solidFill>
                <a:latin typeface="Book Antiqua"/>
                <a:cs typeface="Book Antiqua"/>
              </a:rPr>
              <a:t>Components</a:t>
            </a:r>
            <a:endParaRPr sz="22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1750" spc="-70" dirty="0">
                <a:solidFill>
                  <a:srgbClr val="49495A"/>
                </a:solidFill>
                <a:latin typeface="Verdana"/>
                <a:cs typeface="Verdana"/>
              </a:rPr>
              <a:t>Electr</a:t>
            </a:r>
            <a:r>
              <a:rPr sz="1750" spc="-35" dirty="0">
                <a:solidFill>
                  <a:srgbClr val="49495A"/>
                </a:solidFill>
                <a:latin typeface="Verdana"/>
                <a:cs typeface="Verdana"/>
              </a:rPr>
              <a:t>i</a:t>
            </a:r>
            <a:r>
              <a:rPr sz="1750" spc="-105" dirty="0">
                <a:solidFill>
                  <a:srgbClr val="49495A"/>
                </a:solidFill>
                <a:latin typeface="Verdana"/>
                <a:cs typeface="Verdana"/>
              </a:rPr>
              <a:t>city,</a:t>
            </a:r>
            <a:r>
              <a:rPr sz="1750" spc="-19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85" dirty="0">
                <a:solidFill>
                  <a:srgbClr val="49495A"/>
                </a:solidFill>
                <a:latin typeface="Verdana"/>
                <a:cs typeface="Verdana"/>
              </a:rPr>
              <a:t>water,</a:t>
            </a:r>
            <a:r>
              <a:rPr sz="1750" spc="-18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35" dirty="0">
                <a:solidFill>
                  <a:srgbClr val="49495A"/>
                </a:solidFill>
                <a:latin typeface="Verdana"/>
                <a:cs typeface="Verdana"/>
              </a:rPr>
              <a:t>n</a:t>
            </a:r>
            <a:r>
              <a:rPr sz="1750" spc="-55" dirty="0">
                <a:solidFill>
                  <a:srgbClr val="49495A"/>
                </a:solidFill>
                <a:latin typeface="Verdana"/>
                <a:cs typeface="Verdana"/>
              </a:rPr>
              <a:t>atu</a:t>
            </a:r>
            <a:r>
              <a:rPr sz="1750" spc="-40" dirty="0">
                <a:solidFill>
                  <a:srgbClr val="49495A"/>
                </a:solidFill>
                <a:latin typeface="Verdana"/>
                <a:cs typeface="Verdana"/>
              </a:rPr>
              <a:t>r</a:t>
            </a:r>
            <a:r>
              <a:rPr sz="1750" spc="-60" dirty="0">
                <a:solidFill>
                  <a:srgbClr val="49495A"/>
                </a:solidFill>
                <a:latin typeface="Verdana"/>
                <a:cs typeface="Verdana"/>
              </a:rPr>
              <a:t>al</a:t>
            </a:r>
            <a:r>
              <a:rPr sz="1750" spc="-17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114" dirty="0">
                <a:solidFill>
                  <a:srgbClr val="49495A"/>
                </a:solidFill>
                <a:latin typeface="Verdana"/>
                <a:cs typeface="Verdana"/>
              </a:rPr>
              <a:t>g</a:t>
            </a:r>
            <a:r>
              <a:rPr sz="1750" spc="-120" dirty="0">
                <a:solidFill>
                  <a:srgbClr val="49495A"/>
                </a:solidFill>
                <a:latin typeface="Verdana"/>
                <a:cs typeface="Verdana"/>
              </a:rPr>
              <a:t>a</a:t>
            </a:r>
            <a:r>
              <a:rPr sz="1750" spc="-80" dirty="0">
                <a:solidFill>
                  <a:srgbClr val="49495A"/>
                </a:solidFill>
                <a:latin typeface="Verdana"/>
                <a:cs typeface="Verdana"/>
              </a:rPr>
              <a:t>s</a:t>
            </a:r>
            <a:r>
              <a:rPr sz="1750" spc="-17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50" dirty="0">
                <a:solidFill>
                  <a:srgbClr val="49495A"/>
                </a:solidFill>
                <a:latin typeface="Verdana"/>
                <a:cs typeface="Verdana"/>
              </a:rPr>
              <a:t>providers</a:t>
            </a:r>
            <a:endParaRPr sz="175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-50" dirty="0">
                <a:solidFill>
                  <a:srgbClr val="49495A"/>
                </a:solidFill>
                <a:latin typeface="Verdana"/>
                <a:cs typeface="Verdana"/>
              </a:rPr>
              <a:t>Domi</a:t>
            </a:r>
            <a:r>
              <a:rPr sz="1750" spc="-45" dirty="0">
                <a:solidFill>
                  <a:srgbClr val="49495A"/>
                </a:solidFill>
                <a:latin typeface="Verdana"/>
                <a:cs typeface="Verdana"/>
              </a:rPr>
              <a:t>n</a:t>
            </a:r>
            <a:r>
              <a:rPr sz="1750" spc="-65" dirty="0">
                <a:solidFill>
                  <a:srgbClr val="49495A"/>
                </a:solidFill>
                <a:latin typeface="Verdana"/>
                <a:cs typeface="Verdana"/>
              </a:rPr>
              <a:t>ance</a:t>
            </a:r>
            <a:r>
              <a:rPr sz="1750" spc="-17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20" dirty="0">
                <a:solidFill>
                  <a:srgbClr val="49495A"/>
                </a:solidFill>
                <a:latin typeface="Verdana"/>
                <a:cs typeface="Verdana"/>
              </a:rPr>
              <a:t>of</a:t>
            </a:r>
            <a:r>
              <a:rPr sz="1750" spc="-17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65" dirty="0">
                <a:solidFill>
                  <a:srgbClr val="49495A"/>
                </a:solidFill>
                <a:latin typeface="Verdana"/>
                <a:cs typeface="Verdana"/>
              </a:rPr>
              <a:t>generati</a:t>
            </a:r>
            <a:r>
              <a:rPr sz="1750" spc="-25" dirty="0">
                <a:solidFill>
                  <a:srgbClr val="49495A"/>
                </a:solidFill>
                <a:latin typeface="Verdana"/>
                <a:cs typeface="Verdana"/>
              </a:rPr>
              <a:t>on</a:t>
            </a:r>
            <a:r>
              <a:rPr sz="1750" spc="-18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49495A"/>
                </a:solidFill>
                <a:latin typeface="Verdana"/>
                <a:cs typeface="Verdana"/>
              </a:rPr>
              <a:t>&amp;</a:t>
            </a:r>
            <a:r>
              <a:rPr sz="1750" spc="-18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55" dirty="0">
                <a:solidFill>
                  <a:srgbClr val="49495A"/>
                </a:solidFill>
                <a:latin typeface="Verdana"/>
                <a:cs typeface="Verdana"/>
              </a:rPr>
              <a:t>tra</a:t>
            </a:r>
            <a:r>
              <a:rPr sz="1750" spc="-65" dirty="0">
                <a:solidFill>
                  <a:srgbClr val="49495A"/>
                </a:solidFill>
                <a:latin typeface="Verdana"/>
                <a:cs typeface="Verdana"/>
              </a:rPr>
              <a:t>n</a:t>
            </a:r>
            <a:r>
              <a:rPr sz="1750" spc="-70" dirty="0">
                <a:solidFill>
                  <a:srgbClr val="49495A"/>
                </a:solidFill>
                <a:latin typeface="Verdana"/>
                <a:cs typeface="Verdana"/>
              </a:rPr>
              <a:t>smi</a:t>
            </a:r>
            <a:r>
              <a:rPr sz="1750" spc="-60" dirty="0">
                <a:solidFill>
                  <a:srgbClr val="49495A"/>
                </a:solidFill>
                <a:latin typeface="Verdana"/>
                <a:cs typeface="Verdana"/>
              </a:rPr>
              <a:t>s</a:t>
            </a:r>
            <a:r>
              <a:rPr sz="1750" spc="-80" dirty="0">
                <a:solidFill>
                  <a:srgbClr val="49495A"/>
                </a:solidFill>
                <a:latin typeface="Verdana"/>
                <a:cs typeface="Verdana"/>
              </a:rPr>
              <a:t>s</a:t>
            </a:r>
            <a:r>
              <a:rPr sz="1750" spc="-35" dirty="0">
                <a:solidFill>
                  <a:srgbClr val="49495A"/>
                </a:solidFill>
                <a:latin typeface="Verdana"/>
                <a:cs typeface="Verdana"/>
              </a:rPr>
              <a:t>i</a:t>
            </a:r>
            <a:r>
              <a:rPr sz="1750" spc="-25" dirty="0">
                <a:solidFill>
                  <a:srgbClr val="49495A"/>
                </a:solidFill>
                <a:latin typeface="Verdana"/>
                <a:cs typeface="Verdana"/>
              </a:rPr>
              <a:t>on</a:t>
            </a:r>
            <a:endParaRPr sz="175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-90" dirty="0">
                <a:solidFill>
                  <a:srgbClr val="49495A"/>
                </a:solidFill>
                <a:latin typeface="Verdana"/>
                <a:cs typeface="Verdana"/>
              </a:rPr>
              <a:t>Regulated</a:t>
            </a:r>
            <a:r>
              <a:rPr sz="1750" spc="-55" dirty="0">
                <a:solidFill>
                  <a:srgbClr val="49495A"/>
                </a:solidFill>
                <a:latin typeface="Verdana"/>
                <a:cs typeface="Verdana"/>
              </a:rPr>
              <a:t>,</a:t>
            </a:r>
            <a:r>
              <a:rPr sz="1750" spc="-17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55" dirty="0">
                <a:solidFill>
                  <a:srgbClr val="49495A"/>
                </a:solidFill>
                <a:latin typeface="Verdana"/>
                <a:cs typeface="Verdana"/>
              </a:rPr>
              <a:t>ca</a:t>
            </a:r>
            <a:r>
              <a:rPr sz="1750" spc="-75" dirty="0">
                <a:solidFill>
                  <a:srgbClr val="49495A"/>
                </a:solidFill>
                <a:latin typeface="Verdana"/>
                <a:cs typeface="Verdana"/>
              </a:rPr>
              <a:t>p</a:t>
            </a:r>
            <a:r>
              <a:rPr sz="1750" spc="-65" dirty="0">
                <a:solidFill>
                  <a:srgbClr val="49495A"/>
                </a:solidFill>
                <a:latin typeface="Verdana"/>
                <a:cs typeface="Verdana"/>
              </a:rPr>
              <a:t>ita</a:t>
            </a:r>
            <a:r>
              <a:rPr sz="1750" spc="-40" dirty="0">
                <a:solidFill>
                  <a:srgbClr val="49495A"/>
                </a:solidFill>
                <a:latin typeface="Verdana"/>
                <a:cs typeface="Verdana"/>
              </a:rPr>
              <a:t>l</a:t>
            </a:r>
            <a:r>
              <a:rPr sz="1750" spc="-16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40" dirty="0">
                <a:solidFill>
                  <a:srgbClr val="49495A"/>
                </a:solidFill>
                <a:latin typeface="Verdana"/>
                <a:cs typeface="Verdana"/>
              </a:rPr>
              <a:t>i</a:t>
            </a:r>
            <a:r>
              <a:rPr sz="1750" spc="-35" dirty="0">
                <a:solidFill>
                  <a:srgbClr val="49495A"/>
                </a:solidFill>
                <a:latin typeface="Verdana"/>
                <a:cs typeface="Verdana"/>
              </a:rPr>
              <a:t>n</a:t>
            </a:r>
            <a:r>
              <a:rPr sz="1750" spc="-55" dirty="0">
                <a:solidFill>
                  <a:srgbClr val="49495A"/>
                </a:solidFill>
                <a:latin typeface="Verdana"/>
                <a:cs typeface="Verdana"/>
              </a:rPr>
              <a:t>te</a:t>
            </a:r>
            <a:r>
              <a:rPr sz="1750" spc="-65" dirty="0">
                <a:solidFill>
                  <a:srgbClr val="49495A"/>
                </a:solidFill>
                <a:latin typeface="Verdana"/>
                <a:cs typeface="Verdana"/>
              </a:rPr>
              <a:t>n</a:t>
            </a:r>
            <a:r>
              <a:rPr sz="1750" spc="-80" dirty="0">
                <a:solidFill>
                  <a:srgbClr val="49495A"/>
                </a:solidFill>
                <a:latin typeface="Verdana"/>
                <a:cs typeface="Verdana"/>
              </a:rPr>
              <a:t>s</a:t>
            </a:r>
            <a:r>
              <a:rPr sz="1750" spc="-35" dirty="0">
                <a:solidFill>
                  <a:srgbClr val="49495A"/>
                </a:solidFill>
                <a:latin typeface="Verdana"/>
                <a:cs typeface="Verdana"/>
              </a:rPr>
              <a:t>i</a:t>
            </a:r>
            <a:r>
              <a:rPr sz="1750" spc="-135" dirty="0">
                <a:solidFill>
                  <a:srgbClr val="49495A"/>
                </a:solidFill>
                <a:latin typeface="Verdana"/>
                <a:cs typeface="Verdana"/>
              </a:rPr>
              <a:t>ve,</a:t>
            </a:r>
            <a:r>
              <a:rPr sz="1750" spc="-19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110" dirty="0">
                <a:solidFill>
                  <a:srgbClr val="49495A"/>
                </a:solidFill>
                <a:latin typeface="Verdana"/>
                <a:cs typeface="Verdana"/>
              </a:rPr>
              <a:t>govt.</a:t>
            </a:r>
            <a:r>
              <a:rPr sz="1750" spc="-17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30" dirty="0">
                <a:solidFill>
                  <a:srgbClr val="49495A"/>
                </a:solidFill>
                <a:latin typeface="Verdana"/>
                <a:cs typeface="Verdana"/>
              </a:rPr>
              <a:t>i</a:t>
            </a:r>
            <a:r>
              <a:rPr sz="1750" spc="-45" dirty="0">
                <a:solidFill>
                  <a:srgbClr val="49495A"/>
                </a:solidFill>
                <a:latin typeface="Verdana"/>
                <a:cs typeface="Verdana"/>
              </a:rPr>
              <a:t>n</a:t>
            </a:r>
            <a:r>
              <a:rPr sz="1750" spc="-75" dirty="0">
                <a:solidFill>
                  <a:srgbClr val="49495A"/>
                </a:solidFill>
                <a:latin typeface="Verdana"/>
                <a:cs typeface="Verdana"/>
              </a:rPr>
              <a:t>volved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7488" y="3145281"/>
            <a:ext cx="20523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65" dirty="0">
                <a:solidFill>
                  <a:srgbClr val="403CCF"/>
                </a:solidFill>
                <a:latin typeface="Book Antiqua"/>
                <a:cs typeface="Book Antiqua"/>
              </a:rPr>
              <a:t>Key</a:t>
            </a:r>
            <a:r>
              <a:rPr sz="2200" spc="20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spc="195" dirty="0">
                <a:solidFill>
                  <a:srgbClr val="403CCF"/>
                </a:solidFill>
                <a:latin typeface="Book Antiqua"/>
                <a:cs typeface="Book Antiqua"/>
              </a:rPr>
              <a:t>Segments</a:t>
            </a:r>
            <a:endParaRPr sz="22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87488" y="3792092"/>
            <a:ext cx="5145405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-120" dirty="0">
                <a:solidFill>
                  <a:srgbClr val="49495A"/>
                </a:solidFill>
                <a:latin typeface="Verdana"/>
                <a:cs typeface="Verdana"/>
              </a:rPr>
              <a:t>T</a:t>
            </a:r>
            <a:r>
              <a:rPr sz="1750" spc="-35" dirty="0">
                <a:solidFill>
                  <a:srgbClr val="49495A"/>
                </a:solidFill>
                <a:latin typeface="Verdana"/>
                <a:cs typeface="Verdana"/>
              </a:rPr>
              <a:t>h</a:t>
            </a:r>
            <a:r>
              <a:rPr sz="1750" spc="-60" dirty="0">
                <a:solidFill>
                  <a:srgbClr val="49495A"/>
                </a:solidFill>
                <a:latin typeface="Verdana"/>
                <a:cs typeface="Verdana"/>
              </a:rPr>
              <a:t>ermal</a:t>
            </a:r>
            <a:r>
              <a:rPr sz="1750" spc="-17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105" dirty="0">
                <a:solidFill>
                  <a:srgbClr val="49495A"/>
                </a:solidFill>
                <a:latin typeface="Verdana"/>
                <a:cs typeface="Verdana"/>
              </a:rPr>
              <a:t>(Coal</a:t>
            </a:r>
            <a:r>
              <a:rPr sz="1750" spc="-18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49495A"/>
                </a:solidFill>
                <a:latin typeface="Verdana"/>
                <a:cs typeface="Verdana"/>
              </a:rPr>
              <a:t>&amp;</a:t>
            </a:r>
            <a:r>
              <a:rPr sz="1750" spc="-16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95" dirty="0">
                <a:solidFill>
                  <a:srgbClr val="49495A"/>
                </a:solidFill>
                <a:latin typeface="Verdana"/>
                <a:cs typeface="Verdana"/>
              </a:rPr>
              <a:t>G</a:t>
            </a:r>
            <a:r>
              <a:rPr sz="1750" spc="-145" dirty="0">
                <a:solidFill>
                  <a:srgbClr val="49495A"/>
                </a:solidFill>
                <a:latin typeface="Verdana"/>
                <a:cs typeface="Verdana"/>
              </a:rPr>
              <a:t>as)</a:t>
            </a:r>
            <a:endParaRPr sz="175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-70" dirty="0">
                <a:solidFill>
                  <a:srgbClr val="49495A"/>
                </a:solidFill>
                <a:latin typeface="Verdana"/>
                <a:cs typeface="Verdana"/>
              </a:rPr>
              <a:t>Renewable</a:t>
            </a:r>
            <a:r>
              <a:rPr sz="1750" spc="-60" dirty="0">
                <a:solidFill>
                  <a:srgbClr val="49495A"/>
                </a:solidFill>
                <a:latin typeface="Verdana"/>
                <a:cs typeface="Verdana"/>
              </a:rPr>
              <a:t>s</a:t>
            </a:r>
            <a:r>
              <a:rPr sz="1750" spc="-17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114" dirty="0">
                <a:solidFill>
                  <a:srgbClr val="49495A"/>
                </a:solidFill>
                <a:latin typeface="Verdana"/>
                <a:cs typeface="Verdana"/>
              </a:rPr>
              <a:t>(Solar</a:t>
            </a:r>
            <a:r>
              <a:rPr sz="1750" spc="-18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49495A"/>
                </a:solidFill>
                <a:latin typeface="Verdana"/>
                <a:cs typeface="Verdana"/>
              </a:rPr>
              <a:t>&amp;</a:t>
            </a:r>
            <a:r>
              <a:rPr sz="1750" spc="-16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70" dirty="0">
                <a:solidFill>
                  <a:srgbClr val="49495A"/>
                </a:solidFill>
                <a:latin typeface="Verdana"/>
                <a:cs typeface="Verdana"/>
              </a:rPr>
              <a:t>Wi</a:t>
            </a:r>
            <a:r>
              <a:rPr sz="1750" spc="-65" dirty="0">
                <a:solidFill>
                  <a:srgbClr val="49495A"/>
                </a:solidFill>
                <a:latin typeface="Verdana"/>
                <a:cs typeface="Verdana"/>
              </a:rPr>
              <a:t>n</a:t>
            </a:r>
            <a:r>
              <a:rPr sz="1750" spc="-150" dirty="0">
                <a:solidFill>
                  <a:srgbClr val="49495A"/>
                </a:solidFill>
                <a:latin typeface="Verdana"/>
                <a:cs typeface="Verdana"/>
              </a:rPr>
              <a:t>d)</a:t>
            </a:r>
            <a:endParaRPr sz="175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-120" dirty="0">
                <a:solidFill>
                  <a:srgbClr val="49495A"/>
                </a:solidFill>
                <a:latin typeface="Verdana"/>
                <a:cs typeface="Verdana"/>
              </a:rPr>
              <a:t>T</a:t>
            </a:r>
            <a:r>
              <a:rPr sz="1750" spc="-45" dirty="0">
                <a:solidFill>
                  <a:srgbClr val="49495A"/>
                </a:solidFill>
                <a:latin typeface="Verdana"/>
                <a:cs typeface="Verdana"/>
              </a:rPr>
              <a:t>ra</a:t>
            </a:r>
            <a:r>
              <a:rPr sz="1750" spc="-50" dirty="0">
                <a:solidFill>
                  <a:srgbClr val="49495A"/>
                </a:solidFill>
                <a:latin typeface="Verdana"/>
                <a:cs typeface="Verdana"/>
              </a:rPr>
              <a:t>n</a:t>
            </a:r>
            <a:r>
              <a:rPr sz="1750" spc="-70" dirty="0">
                <a:solidFill>
                  <a:srgbClr val="49495A"/>
                </a:solidFill>
                <a:latin typeface="Verdana"/>
                <a:cs typeface="Verdana"/>
              </a:rPr>
              <a:t>smi</a:t>
            </a:r>
            <a:r>
              <a:rPr sz="1750" spc="-60" dirty="0">
                <a:solidFill>
                  <a:srgbClr val="49495A"/>
                </a:solidFill>
                <a:latin typeface="Verdana"/>
                <a:cs typeface="Verdana"/>
              </a:rPr>
              <a:t>s</a:t>
            </a:r>
            <a:r>
              <a:rPr sz="1750" spc="-80" dirty="0">
                <a:solidFill>
                  <a:srgbClr val="49495A"/>
                </a:solidFill>
                <a:latin typeface="Verdana"/>
                <a:cs typeface="Verdana"/>
              </a:rPr>
              <a:t>s</a:t>
            </a:r>
            <a:r>
              <a:rPr sz="1750" spc="-35" dirty="0">
                <a:solidFill>
                  <a:srgbClr val="49495A"/>
                </a:solidFill>
                <a:latin typeface="Verdana"/>
                <a:cs typeface="Verdana"/>
              </a:rPr>
              <a:t>i</a:t>
            </a:r>
            <a:r>
              <a:rPr sz="1750" spc="-25" dirty="0">
                <a:solidFill>
                  <a:srgbClr val="49495A"/>
                </a:solidFill>
                <a:latin typeface="Verdana"/>
                <a:cs typeface="Verdana"/>
              </a:rPr>
              <a:t>on</a:t>
            </a:r>
            <a:r>
              <a:rPr sz="1750" spc="-19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30" dirty="0">
                <a:solidFill>
                  <a:srgbClr val="49495A"/>
                </a:solidFill>
                <a:latin typeface="Verdana"/>
                <a:cs typeface="Verdana"/>
              </a:rPr>
              <a:t>i</a:t>
            </a:r>
            <a:r>
              <a:rPr sz="1750" spc="-45" dirty="0">
                <a:solidFill>
                  <a:srgbClr val="49495A"/>
                </a:solidFill>
                <a:latin typeface="Verdana"/>
                <a:cs typeface="Verdana"/>
              </a:rPr>
              <a:t>n</a:t>
            </a:r>
            <a:r>
              <a:rPr sz="1750" spc="-60" dirty="0">
                <a:solidFill>
                  <a:srgbClr val="49495A"/>
                </a:solidFill>
                <a:latin typeface="Verdana"/>
                <a:cs typeface="Verdana"/>
              </a:rPr>
              <a:t>frast</a:t>
            </a:r>
            <a:r>
              <a:rPr sz="1750" spc="-45" dirty="0">
                <a:solidFill>
                  <a:srgbClr val="49495A"/>
                </a:solidFill>
                <a:latin typeface="Verdana"/>
                <a:cs typeface="Verdana"/>
              </a:rPr>
              <a:t>r</a:t>
            </a:r>
            <a:r>
              <a:rPr sz="1750" spc="-35" dirty="0">
                <a:solidFill>
                  <a:srgbClr val="49495A"/>
                </a:solidFill>
                <a:latin typeface="Verdana"/>
                <a:cs typeface="Verdana"/>
              </a:rPr>
              <a:t>u</a:t>
            </a:r>
            <a:r>
              <a:rPr sz="1750" spc="-55" dirty="0">
                <a:solidFill>
                  <a:srgbClr val="49495A"/>
                </a:solidFill>
                <a:latin typeface="Verdana"/>
                <a:cs typeface="Verdana"/>
              </a:rPr>
              <a:t>ct</a:t>
            </a:r>
            <a:r>
              <a:rPr sz="1750" spc="-65" dirty="0">
                <a:solidFill>
                  <a:srgbClr val="49495A"/>
                </a:solidFill>
                <a:latin typeface="Verdana"/>
                <a:cs typeface="Verdana"/>
              </a:rPr>
              <a:t>u</a:t>
            </a:r>
            <a:r>
              <a:rPr sz="1750" spc="-45" dirty="0">
                <a:solidFill>
                  <a:srgbClr val="49495A"/>
                </a:solidFill>
                <a:latin typeface="Verdana"/>
                <a:cs typeface="Verdana"/>
              </a:rPr>
              <a:t>r</a:t>
            </a:r>
            <a:r>
              <a:rPr sz="1750" spc="-60" dirty="0">
                <a:solidFill>
                  <a:srgbClr val="49495A"/>
                </a:solidFill>
                <a:latin typeface="Verdana"/>
                <a:cs typeface="Verdana"/>
              </a:rPr>
              <a:t>e</a:t>
            </a:r>
            <a:endParaRPr sz="1750">
              <a:latin typeface="Verdana"/>
              <a:cs typeface="Verdana"/>
            </a:endParaRPr>
          </a:p>
          <a:p>
            <a:pPr marL="12700" marR="5080">
              <a:lnSpc>
                <a:spcPts val="4470"/>
              </a:lnSpc>
              <a:spcBef>
                <a:spcPts val="340"/>
              </a:spcBef>
            </a:pPr>
            <a:r>
              <a:rPr sz="1750" spc="-50" dirty="0">
                <a:solidFill>
                  <a:srgbClr val="49495A"/>
                </a:solidFill>
                <a:latin typeface="Verdana"/>
                <a:cs typeface="Verdana"/>
              </a:rPr>
              <a:t>Marke</a:t>
            </a:r>
            <a:r>
              <a:rPr sz="1750" spc="-30" dirty="0">
                <a:solidFill>
                  <a:srgbClr val="49495A"/>
                </a:solidFill>
                <a:latin typeface="Verdana"/>
                <a:cs typeface="Verdana"/>
              </a:rPr>
              <a:t>t</a:t>
            </a:r>
            <a:r>
              <a:rPr sz="1750" spc="-16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75" dirty="0">
                <a:solidFill>
                  <a:srgbClr val="49495A"/>
                </a:solidFill>
                <a:latin typeface="Verdana"/>
                <a:cs typeface="Verdana"/>
              </a:rPr>
              <a:t>s</a:t>
            </a:r>
            <a:r>
              <a:rPr sz="1750" spc="-65" dirty="0">
                <a:solidFill>
                  <a:srgbClr val="49495A"/>
                </a:solidFill>
                <a:latin typeface="Verdana"/>
                <a:cs typeface="Verdana"/>
              </a:rPr>
              <a:t>iz</a:t>
            </a:r>
            <a:r>
              <a:rPr sz="1750" spc="-85" dirty="0">
                <a:solidFill>
                  <a:srgbClr val="49495A"/>
                </a:solidFill>
                <a:latin typeface="Verdana"/>
                <a:cs typeface="Verdana"/>
              </a:rPr>
              <a:t>e</a:t>
            </a:r>
            <a:r>
              <a:rPr sz="1750" spc="-15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49495A"/>
                </a:solidFill>
                <a:latin typeface="Times New Roman"/>
                <a:cs typeface="Times New Roman"/>
              </a:rPr>
              <a:t>₹</a:t>
            </a:r>
            <a:r>
              <a:rPr sz="1750" spc="-125" dirty="0">
                <a:solidFill>
                  <a:srgbClr val="49495A"/>
                </a:solidFill>
                <a:latin typeface="Verdana"/>
                <a:cs typeface="Verdana"/>
              </a:rPr>
              <a:t>15</a:t>
            </a:r>
            <a:r>
              <a:rPr sz="1750" spc="-145" dirty="0">
                <a:solidFill>
                  <a:srgbClr val="49495A"/>
                </a:solidFill>
                <a:latin typeface="Verdana"/>
                <a:cs typeface="Verdana"/>
              </a:rPr>
              <a:t>.7</a:t>
            </a:r>
            <a:r>
              <a:rPr sz="1750" spc="-16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70" dirty="0">
                <a:solidFill>
                  <a:srgbClr val="49495A"/>
                </a:solidFill>
                <a:latin typeface="Verdana"/>
                <a:cs typeface="Verdana"/>
              </a:rPr>
              <a:t>lak</a:t>
            </a:r>
            <a:r>
              <a:rPr sz="1750" spc="-80" dirty="0">
                <a:solidFill>
                  <a:srgbClr val="49495A"/>
                </a:solidFill>
                <a:latin typeface="Verdana"/>
                <a:cs typeface="Verdana"/>
              </a:rPr>
              <a:t>h</a:t>
            </a:r>
            <a:r>
              <a:rPr sz="1750" spc="-17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75" dirty="0">
                <a:solidFill>
                  <a:srgbClr val="49495A"/>
                </a:solidFill>
                <a:latin typeface="Verdana"/>
                <a:cs typeface="Verdana"/>
              </a:rPr>
              <a:t>Cr</a:t>
            </a:r>
            <a:r>
              <a:rPr sz="1750" spc="-17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165" dirty="0">
                <a:solidFill>
                  <a:srgbClr val="49495A"/>
                </a:solidFill>
                <a:latin typeface="Verdana"/>
                <a:cs typeface="Verdana"/>
              </a:rPr>
              <a:t>(</a:t>
            </a:r>
            <a:r>
              <a:rPr sz="1750" spc="-240" dirty="0">
                <a:solidFill>
                  <a:srgbClr val="49495A"/>
                </a:solidFill>
                <a:latin typeface="Verdana"/>
                <a:cs typeface="Verdana"/>
              </a:rPr>
              <a:t>2</a:t>
            </a:r>
            <a:r>
              <a:rPr sz="1750" spc="-125" dirty="0">
                <a:solidFill>
                  <a:srgbClr val="49495A"/>
                </a:solidFill>
                <a:latin typeface="Verdana"/>
                <a:cs typeface="Verdana"/>
              </a:rPr>
              <a:t>024</a:t>
            </a:r>
            <a:r>
              <a:rPr sz="1750" spc="-235" dirty="0">
                <a:solidFill>
                  <a:srgbClr val="49495A"/>
                </a:solidFill>
                <a:latin typeface="Verdana"/>
                <a:cs typeface="Verdana"/>
              </a:rPr>
              <a:t>),</a:t>
            </a:r>
            <a:r>
              <a:rPr sz="1750" spc="-16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275" dirty="0">
                <a:solidFill>
                  <a:srgbClr val="49495A"/>
                </a:solidFill>
                <a:latin typeface="Verdana"/>
                <a:cs typeface="Verdana"/>
              </a:rPr>
              <a:t>8%</a:t>
            </a:r>
            <a:r>
              <a:rPr sz="1750" spc="-17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110" dirty="0">
                <a:solidFill>
                  <a:srgbClr val="49495A"/>
                </a:solidFill>
                <a:latin typeface="Verdana"/>
                <a:cs typeface="Verdana"/>
              </a:rPr>
              <a:t>CAGR</a:t>
            </a:r>
            <a:r>
              <a:rPr sz="1750" spc="-16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55" dirty="0">
                <a:solidFill>
                  <a:srgbClr val="49495A"/>
                </a:solidFill>
                <a:latin typeface="Verdana"/>
                <a:cs typeface="Verdana"/>
              </a:rPr>
              <a:t>growth  </a:t>
            </a:r>
            <a:r>
              <a:rPr sz="1750" spc="-75" dirty="0">
                <a:solidFill>
                  <a:srgbClr val="49495A"/>
                </a:solidFill>
                <a:latin typeface="Verdana"/>
                <a:cs typeface="Verdana"/>
              </a:rPr>
              <a:t>Regulato</a:t>
            </a:r>
            <a:r>
              <a:rPr sz="1750" spc="-55" dirty="0">
                <a:solidFill>
                  <a:srgbClr val="49495A"/>
                </a:solidFill>
                <a:latin typeface="Verdana"/>
                <a:cs typeface="Verdana"/>
              </a:rPr>
              <a:t>r</a:t>
            </a:r>
            <a:r>
              <a:rPr sz="1750" spc="-160" dirty="0">
                <a:solidFill>
                  <a:srgbClr val="49495A"/>
                </a:solidFill>
                <a:latin typeface="Verdana"/>
                <a:cs typeface="Verdana"/>
              </a:rPr>
              <a:t>y</a:t>
            </a:r>
            <a:r>
              <a:rPr sz="1750" spc="-18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60" dirty="0">
                <a:solidFill>
                  <a:srgbClr val="49495A"/>
                </a:solidFill>
                <a:latin typeface="Verdana"/>
                <a:cs typeface="Verdana"/>
              </a:rPr>
              <a:t>drivers</a:t>
            </a:r>
            <a:r>
              <a:rPr sz="1750" spc="-335" dirty="0">
                <a:solidFill>
                  <a:srgbClr val="49495A"/>
                </a:solidFill>
                <a:latin typeface="Verdana"/>
                <a:cs typeface="Verdana"/>
              </a:rPr>
              <a:t>:</a:t>
            </a:r>
            <a:r>
              <a:rPr sz="1750" spc="-175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70" dirty="0">
                <a:solidFill>
                  <a:srgbClr val="49495A"/>
                </a:solidFill>
                <a:latin typeface="Verdana"/>
                <a:cs typeface="Verdana"/>
              </a:rPr>
              <a:t>RPO</a:t>
            </a:r>
            <a:r>
              <a:rPr sz="1750" spc="-50" dirty="0">
                <a:solidFill>
                  <a:srgbClr val="49495A"/>
                </a:solidFill>
                <a:latin typeface="Verdana"/>
                <a:cs typeface="Verdana"/>
              </a:rPr>
              <a:t>s</a:t>
            </a:r>
            <a:r>
              <a:rPr sz="1750" spc="-19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49495A"/>
                </a:solidFill>
                <a:latin typeface="Verdana"/>
                <a:cs typeface="Verdana"/>
              </a:rPr>
              <a:t>&amp;</a:t>
            </a:r>
            <a:r>
              <a:rPr sz="1750" spc="-16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200" dirty="0">
                <a:solidFill>
                  <a:srgbClr val="49495A"/>
                </a:solidFill>
                <a:latin typeface="Verdana"/>
                <a:cs typeface="Verdana"/>
              </a:rPr>
              <a:t>S</a:t>
            </a:r>
            <a:r>
              <a:rPr sz="1750" spc="-190" dirty="0">
                <a:solidFill>
                  <a:srgbClr val="49495A"/>
                </a:solidFill>
                <a:latin typeface="Verdana"/>
                <a:cs typeface="Verdana"/>
              </a:rPr>
              <a:t>E</a:t>
            </a:r>
            <a:r>
              <a:rPr sz="1750" spc="-70" dirty="0">
                <a:solidFill>
                  <a:srgbClr val="49495A"/>
                </a:solidFill>
                <a:latin typeface="Verdana"/>
                <a:cs typeface="Verdana"/>
              </a:rPr>
              <a:t>B</a:t>
            </a:r>
            <a:r>
              <a:rPr sz="1750" spc="-16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45" dirty="0">
                <a:solidFill>
                  <a:srgbClr val="49495A"/>
                </a:solidFill>
                <a:latin typeface="Verdana"/>
                <a:cs typeface="Verdana"/>
              </a:rPr>
              <a:t>reforms</a:t>
            </a:r>
            <a:r>
              <a:rPr sz="1750" spc="-180" dirty="0">
                <a:solidFill>
                  <a:srgbClr val="49495A"/>
                </a:solidFill>
                <a:latin typeface="Verdana"/>
                <a:cs typeface="Verdana"/>
              </a:rPr>
              <a:t> </a:t>
            </a:r>
            <a:r>
              <a:rPr sz="1750" spc="-110" dirty="0">
                <a:solidFill>
                  <a:srgbClr val="49495A"/>
                </a:solidFill>
                <a:latin typeface="Verdana"/>
                <a:cs typeface="Verdana"/>
              </a:rPr>
              <a:t>(</a:t>
            </a:r>
            <a:r>
              <a:rPr sz="1750" spc="-185" dirty="0">
                <a:solidFill>
                  <a:srgbClr val="49495A"/>
                </a:solidFill>
                <a:latin typeface="Verdana"/>
                <a:cs typeface="Verdana"/>
              </a:rPr>
              <a:t>U</a:t>
            </a:r>
            <a:r>
              <a:rPr sz="1750" spc="-140" dirty="0">
                <a:solidFill>
                  <a:srgbClr val="49495A"/>
                </a:solidFill>
                <a:latin typeface="Verdana"/>
                <a:cs typeface="Verdana"/>
              </a:rPr>
              <a:t>DAY)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9445" y="7753350"/>
            <a:ext cx="99060" cy="15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"/>
              </a:lnSpc>
            </a:pPr>
            <a:r>
              <a:rPr sz="100" spc="5" dirty="0">
                <a:latin typeface="Calibri"/>
                <a:cs typeface="Calibri"/>
                <a:hlinkClick r:id="rId2"/>
              </a:rPr>
              <a:t>p</a:t>
            </a:r>
            <a:r>
              <a:rPr sz="100" spc="-5" dirty="0">
                <a:latin typeface="Calibri"/>
                <a:cs typeface="Calibri"/>
                <a:hlinkClick r:id="rId2"/>
              </a:rPr>
              <a:t>r</a:t>
            </a:r>
            <a:r>
              <a:rPr sz="100" spc="10" dirty="0">
                <a:latin typeface="Calibri"/>
                <a:cs typeface="Calibri"/>
                <a:hlinkClick r:id="rId2"/>
              </a:rPr>
              <a:t>ee</a:t>
            </a:r>
            <a:r>
              <a:rPr sz="100" spc="5" dirty="0">
                <a:latin typeface="Calibri"/>
                <a:cs typeface="Calibri"/>
                <a:hlinkClick r:id="rId2"/>
              </a:rPr>
              <a:t>ncod</a:t>
            </a:r>
            <a:r>
              <a:rPr sz="100" spc="10" dirty="0">
                <a:latin typeface="Calibri"/>
                <a:cs typeface="Calibri"/>
                <a:hlinkClick r:id="rId2"/>
              </a:rPr>
              <a:t>e</a:t>
            </a:r>
            <a:r>
              <a:rPr sz="100" spc="5" dirty="0">
                <a:latin typeface="Calibri"/>
                <a:cs typeface="Calibri"/>
                <a:hlinkClick r:id="rId2"/>
              </a:rPr>
              <a:t>d</a:t>
            </a:r>
            <a:r>
              <a:rPr sz="100" spc="10" dirty="0">
                <a:latin typeface="Calibri"/>
                <a:cs typeface="Calibri"/>
                <a:hlinkClick r:id="rId2"/>
              </a:rPr>
              <a:t>.</a:t>
            </a:r>
            <a:r>
              <a:rPr sz="100" spc="5" dirty="0">
                <a:latin typeface="Calibri"/>
                <a:cs typeface="Calibri"/>
                <a:hlinkClick r:id="rId2"/>
              </a:rPr>
              <a:t>png</a:t>
            </a:r>
            <a:endParaRPr sz="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15200" y="0"/>
            <a:ext cx="7315200" cy="8229600"/>
            <a:chOff x="7315200" y="0"/>
            <a:chExt cx="7315200" cy="8229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39191" y="7749538"/>
              <a:ext cx="1722627" cy="4114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5200" y="0"/>
              <a:ext cx="7315200" cy="822959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1304" y="886714"/>
            <a:ext cx="5515610" cy="141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00"/>
              </a:lnSpc>
            </a:pPr>
            <a:r>
              <a:rPr spc="340" dirty="0"/>
              <a:t>Power </a:t>
            </a:r>
            <a:r>
              <a:rPr spc="335" dirty="0"/>
              <a:t>Purchase </a:t>
            </a:r>
            <a:r>
              <a:rPr spc="340" dirty="0"/>
              <a:t> </a:t>
            </a:r>
            <a:r>
              <a:rPr spc="345" dirty="0"/>
              <a:t>Agreements</a:t>
            </a:r>
            <a:r>
              <a:rPr spc="114" dirty="0"/>
              <a:t> </a:t>
            </a:r>
            <a:r>
              <a:rPr spc="135" dirty="0"/>
              <a:t>(PPAs)</a:t>
            </a:r>
          </a:p>
        </p:txBody>
      </p:sp>
      <p:sp>
        <p:nvSpPr>
          <p:cNvPr id="7" name="object 7"/>
          <p:cNvSpPr/>
          <p:nvPr/>
        </p:nvSpPr>
        <p:spPr>
          <a:xfrm>
            <a:off x="793788" y="2688970"/>
            <a:ext cx="5727700" cy="2191385"/>
          </a:xfrm>
          <a:custGeom>
            <a:avLst/>
            <a:gdLst/>
            <a:ahLst/>
            <a:cxnLst/>
            <a:rect l="l" t="t" r="r" b="b"/>
            <a:pathLst>
              <a:path w="5727700" h="2191385">
                <a:moveTo>
                  <a:pt x="5693625" y="0"/>
                </a:moveTo>
                <a:lnTo>
                  <a:pt x="34036" y="0"/>
                </a:lnTo>
                <a:lnTo>
                  <a:pt x="20788" y="2655"/>
                </a:lnTo>
                <a:lnTo>
                  <a:pt x="9969" y="9905"/>
                </a:lnTo>
                <a:lnTo>
                  <a:pt x="2674" y="20681"/>
                </a:lnTo>
                <a:lnTo>
                  <a:pt x="0" y="33908"/>
                </a:lnTo>
                <a:lnTo>
                  <a:pt x="0" y="2157221"/>
                </a:lnTo>
                <a:lnTo>
                  <a:pt x="2674" y="2170469"/>
                </a:lnTo>
                <a:lnTo>
                  <a:pt x="9969" y="2181288"/>
                </a:lnTo>
                <a:lnTo>
                  <a:pt x="20788" y="2188583"/>
                </a:lnTo>
                <a:lnTo>
                  <a:pt x="34036" y="2191257"/>
                </a:lnTo>
                <a:lnTo>
                  <a:pt x="5693625" y="2191257"/>
                </a:lnTo>
                <a:lnTo>
                  <a:pt x="5706873" y="2188583"/>
                </a:lnTo>
                <a:lnTo>
                  <a:pt x="5717692" y="2181288"/>
                </a:lnTo>
                <a:lnTo>
                  <a:pt x="5724986" y="2170469"/>
                </a:lnTo>
                <a:lnTo>
                  <a:pt x="5727661" y="2157221"/>
                </a:lnTo>
                <a:lnTo>
                  <a:pt x="5727661" y="33908"/>
                </a:lnTo>
                <a:lnTo>
                  <a:pt x="5724986" y="20681"/>
                </a:lnTo>
                <a:lnTo>
                  <a:pt x="5717692" y="9906"/>
                </a:lnTo>
                <a:lnTo>
                  <a:pt x="5706873" y="2655"/>
                </a:lnTo>
                <a:lnTo>
                  <a:pt x="5693625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08075" y="2891408"/>
            <a:ext cx="3863340" cy="173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10" dirty="0">
                <a:solidFill>
                  <a:srgbClr val="49495A"/>
                </a:solidFill>
                <a:latin typeface="Book Antiqua"/>
                <a:cs typeface="Book Antiqua"/>
              </a:rPr>
              <a:t>PPA</a:t>
            </a:r>
            <a:r>
              <a:rPr sz="2200" spc="50" dirty="0">
                <a:solidFill>
                  <a:srgbClr val="49495A"/>
                </a:solidFill>
                <a:latin typeface="Book Antiqua"/>
                <a:cs typeface="Book Antiqua"/>
              </a:rPr>
              <a:t> </a:t>
            </a:r>
            <a:r>
              <a:rPr sz="2200" spc="204" dirty="0">
                <a:solidFill>
                  <a:srgbClr val="49495A"/>
                </a:solidFill>
                <a:latin typeface="Book Antiqua"/>
                <a:cs typeface="Book Antiqua"/>
              </a:rPr>
              <a:t>Types</a:t>
            </a:r>
            <a:endParaRPr sz="2200">
              <a:latin typeface="Book Antiqua"/>
              <a:cs typeface="Book Antiqua"/>
            </a:endParaRPr>
          </a:p>
          <a:p>
            <a:pPr marL="355600" indent="-343535">
              <a:lnSpc>
                <a:spcPct val="100000"/>
              </a:lnSpc>
              <a:spcBef>
                <a:spcPts val="1745"/>
              </a:spcBef>
              <a:buChar char="•"/>
              <a:tabLst>
                <a:tab pos="354965" algn="l"/>
                <a:tab pos="356235" algn="l"/>
              </a:tabLst>
            </a:pPr>
            <a:r>
              <a:rPr sz="1750" spc="45" dirty="0">
                <a:solidFill>
                  <a:srgbClr val="49495A"/>
                </a:solidFill>
                <a:latin typeface="Trebuchet MS"/>
                <a:cs typeface="Trebuchet MS"/>
              </a:rPr>
              <a:t>Long-term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49495A"/>
                </a:solidFill>
                <a:latin typeface="Trebuchet MS"/>
                <a:cs typeface="Trebuchet MS"/>
              </a:rPr>
              <a:t>fixed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49495A"/>
                </a:solidFill>
                <a:latin typeface="Trebuchet MS"/>
                <a:cs typeface="Trebuchet MS"/>
              </a:rPr>
              <a:t>rate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49495A"/>
                </a:solidFill>
                <a:latin typeface="Trebuchet MS"/>
                <a:cs typeface="Trebuchet MS"/>
              </a:rPr>
              <a:t>(low</a:t>
            </a:r>
            <a:r>
              <a:rPr sz="1750" spc="-10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49495A"/>
                </a:solidFill>
                <a:latin typeface="Trebuchet MS"/>
                <a:cs typeface="Trebuchet MS"/>
              </a:rPr>
              <a:t>risk)</a:t>
            </a:r>
            <a:endParaRPr sz="175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6235" algn="l"/>
              </a:tabLst>
            </a:pP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Spot/merchant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49495A"/>
                </a:solidFill>
                <a:latin typeface="Trebuchet MS"/>
                <a:cs typeface="Trebuchet MS"/>
              </a:rPr>
              <a:t>sales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(higher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49495A"/>
                </a:solidFill>
                <a:latin typeface="Trebuchet MS"/>
                <a:cs typeface="Trebuchet MS"/>
              </a:rPr>
              <a:t>risk)</a:t>
            </a:r>
            <a:endParaRPr sz="175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  <a:tab pos="356235" algn="l"/>
              </a:tabLst>
            </a:pP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Renewable</a:t>
            </a:r>
            <a:r>
              <a:rPr sz="1750" spc="-10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49495A"/>
                </a:solidFill>
                <a:latin typeface="Trebuchet MS"/>
                <a:cs typeface="Trebuchet MS"/>
              </a:rPr>
              <a:t>energy</a:t>
            </a:r>
            <a:r>
              <a:rPr sz="1750" spc="-10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85" dirty="0">
                <a:solidFill>
                  <a:srgbClr val="49495A"/>
                </a:solidFill>
                <a:latin typeface="Trebuchet MS"/>
                <a:cs typeface="Trebuchet MS"/>
              </a:rPr>
              <a:t>PPAs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49495A"/>
                </a:solidFill>
                <a:latin typeface="Trebuchet MS"/>
                <a:cs typeface="Trebuchet MS"/>
              </a:rPr>
              <a:t>(growing)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3788" y="5107051"/>
            <a:ext cx="5727700" cy="2191385"/>
          </a:xfrm>
          <a:custGeom>
            <a:avLst/>
            <a:gdLst/>
            <a:ahLst/>
            <a:cxnLst/>
            <a:rect l="l" t="t" r="r" b="b"/>
            <a:pathLst>
              <a:path w="5727700" h="2191384">
                <a:moveTo>
                  <a:pt x="5693625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2157323"/>
                </a:lnTo>
                <a:lnTo>
                  <a:pt x="2674" y="2170571"/>
                </a:lnTo>
                <a:lnTo>
                  <a:pt x="9969" y="2181390"/>
                </a:lnTo>
                <a:lnTo>
                  <a:pt x="20788" y="2188684"/>
                </a:lnTo>
                <a:lnTo>
                  <a:pt x="34036" y="2191359"/>
                </a:lnTo>
                <a:lnTo>
                  <a:pt x="5693625" y="2191359"/>
                </a:lnTo>
                <a:lnTo>
                  <a:pt x="5706873" y="2188684"/>
                </a:lnTo>
                <a:lnTo>
                  <a:pt x="5717692" y="2181390"/>
                </a:lnTo>
                <a:lnTo>
                  <a:pt x="5724986" y="2170571"/>
                </a:lnTo>
                <a:lnTo>
                  <a:pt x="5727661" y="2157323"/>
                </a:lnTo>
                <a:lnTo>
                  <a:pt x="5727661" y="34036"/>
                </a:lnTo>
                <a:lnTo>
                  <a:pt x="5724986" y="20788"/>
                </a:lnTo>
                <a:lnTo>
                  <a:pt x="5717692" y="9969"/>
                </a:lnTo>
                <a:lnTo>
                  <a:pt x="5706873" y="2674"/>
                </a:lnTo>
                <a:lnTo>
                  <a:pt x="5693625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08075" y="5309997"/>
            <a:ext cx="3416300" cy="173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80" dirty="0">
                <a:solidFill>
                  <a:srgbClr val="49495A"/>
                </a:solidFill>
                <a:latin typeface="Book Antiqua"/>
                <a:cs typeface="Book Antiqua"/>
              </a:rPr>
              <a:t>Investment</a:t>
            </a:r>
            <a:r>
              <a:rPr sz="2200" spc="75" dirty="0">
                <a:solidFill>
                  <a:srgbClr val="49495A"/>
                </a:solidFill>
                <a:latin typeface="Book Antiqua"/>
                <a:cs typeface="Book Antiqua"/>
              </a:rPr>
              <a:t> </a:t>
            </a:r>
            <a:r>
              <a:rPr sz="2200" spc="200" dirty="0">
                <a:solidFill>
                  <a:srgbClr val="49495A"/>
                </a:solidFill>
                <a:latin typeface="Book Antiqua"/>
                <a:cs typeface="Book Antiqua"/>
              </a:rPr>
              <a:t>Importance</a:t>
            </a:r>
            <a:endParaRPr sz="2200">
              <a:latin typeface="Book Antiqua"/>
              <a:cs typeface="Book Antiqua"/>
            </a:endParaRPr>
          </a:p>
          <a:p>
            <a:pPr marL="355600" indent="-343535">
              <a:lnSpc>
                <a:spcPct val="100000"/>
              </a:lnSpc>
              <a:spcBef>
                <a:spcPts val="1745"/>
              </a:spcBef>
              <a:buChar char="•"/>
              <a:tabLst>
                <a:tab pos="354965" algn="l"/>
                <a:tab pos="356235" algn="l"/>
              </a:tabLst>
            </a:pPr>
            <a:r>
              <a:rPr sz="1750" spc="55" dirty="0">
                <a:solidFill>
                  <a:srgbClr val="49495A"/>
                </a:solidFill>
                <a:latin typeface="Trebuchet MS"/>
                <a:cs typeface="Trebuchet MS"/>
              </a:rPr>
              <a:t>Revenue</a:t>
            </a:r>
            <a:r>
              <a:rPr sz="1750" spc="-12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5" dirty="0">
                <a:solidFill>
                  <a:srgbClr val="49495A"/>
                </a:solidFill>
                <a:latin typeface="Trebuchet MS"/>
                <a:cs typeface="Trebuchet MS"/>
              </a:rPr>
              <a:t>visibility</a:t>
            </a:r>
            <a:endParaRPr sz="175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6235" algn="l"/>
              </a:tabLst>
            </a:pPr>
            <a:r>
              <a:rPr sz="1750" spc="55" dirty="0">
                <a:solidFill>
                  <a:srgbClr val="49495A"/>
                </a:solidFill>
                <a:latin typeface="Trebuchet MS"/>
                <a:cs typeface="Trebuchet MS"/>
              </a:rPr>
              <a:t>Reduces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49495A"/>
                </a:solidFill>
                <a:latin typeface="Trebuchet MS"/>
                <a:cs typeface="Trebuchet MS"/>
              </a:rPr>
              <a:t>price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49495A"/>
                </a:solidFill>
                <a:latin typeface="Trebuchet MS"/>
                <a:cs typeface="Trebuchet MS"/>
              </a:rPr>
              <a:t>volatility</a:t>
            </a:r>
            <a:endParaRPr sz="175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  <a:tab pos="356235" algn="l"/>
              </a:tabLst>
            </a:pP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Indicates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49495A"/>
                </a:solidFill>
                <a:latin typeface="Trebuchet MS"/>
                <a:cs typeface="Trebuchet MS"/>
              </a:rPr>
              <a:t>operational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49495A"/>
                </a:solidFill>
                <a:latin typeface="Trebuchet MS"/>
                <a:cs typeface="Trebuchet MS"/>
              </a:rPr>
              <a:t>stability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6745" y="7736840"/>
            <a:ext cx="124460" cy="438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5" dirty="0">
                <a:latin typeface="Calibri"/>
                <a:cs typeface="Calibri"/>
                <a:hlinkClick r:id="rId2"/>
              </a:rPr>
              <a:t>preencoded.png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1304" y="2479039"/>
            <a:ext cx="1300226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40" dirty="0"/>
              <a:t>Key</a:t>
            </a:r>
            <a:r>
              <a:rPr spc="145" dirty="0"/>
              <a:t> </a:t>
            </a:r>
            <a:r>
              <a:rPr spc="405" dirty="0"/>
              <a:t>Sector</a:t>
            </a:r>
            <a:r>
              <a:rPr spc="160" dirty="0"/>
              <a:t> </a:t>
            </a:r>
            <a:r>
              <a:rPr spc="310" dirty="0"/>
              <a:t>Drivers</a:t>
            </a:r>
            <a:r>
              <a:rPr spc="165" dirty="0"/>
              <a:t> </a:t>
            </a:r>
            <a:r>
              <a:rPr spc="445" dirty="0"/>
              <a:t>&amp;</a:t>
            </a:r>
            <a:r>
              <a:rPr spc="160" dirty="0"/>
              <a:t> </a:t>
            </a:r>
            <a:r>
              <a:rPr spc="375" dirty="0"/>
              <a:t>Research</a:t>
            </a:r>
            <a:r>
              <a:rPr spc="160" dirty="0"/>
              <a:t> </a:t>
            </a:r>
            <a:r>
              <a:rPr spc="380" dirty="0"/>
              <a:t>Methodology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1304" y="3774694"/>
            <a:ext cx="5215255" cy="1824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95" dirty="0">
                <a:solidFill>
                  <a:srgbClr val="403CCF"/>
                </a:solidFill>
                <a:latin typeface="Book Antiqua"/>
                <a:cs typeface="Book Antiqua"/>
              </a:rPr>
              <a:t>Sector</a:t>
            </a:r>
            <a:r>
              <a:rPr sz="2200" spc="75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spc="150" dirty="0">
                <a:solidFill>
                  <a:srgbClr val="403CCF"/>
                </a:solidFill>
                <a:latin typeface="Book Antiqua"/>
                <a:cs typeface="Book Antiqua"/>
              </a:rPr>
              <a:t>Drivers</a:t>
            </a:r>
            <a:endParaRPr sz="22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1750" spc="-5" dirty="0">
                <a:solidFill>
                  <a:srgbClr val="49495A"/>
                </a:solidFill>
                <a:latin typeface="Lucida Sans Unicode"/>
                <a:cs typeface="Lucida Sans Unicode"/>
              </a:rPr>
              <a:t>S</a:t>
            </a:r>
            <a:r>
              <a:rPr sz="1750" dirty="0">
                <a:solidFill>
                  <a:srgbClr val="49495A"/>
                </a:solidFill>
                <a:latin typeface="Lucida Sans Unicode"/>
                <a:cs typeface="Lucida Sans Unicode"/>
              </a:rPr>
              <a:t>h</a:t>
            </a:r>
            <a:r>
              <a:rPr sz="1750" spc="-55" dirty="0">
                <a:solidFill>
                  <a:srgbClr val="49495A"/>
                </a:solidFill>
                <a:latin typeface="Lucida Sans Unicode"/>
                <a:cs typeface="Lucida Sans Unicode"/>
              </a:rPr>
              <a:t>ift</a:t>
            </a:r>
            <a:r>
              <a:rPr sz="1750" spc="-11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49495A"/>
                </a:solidFill>
                <a:latin typeface="Lucida Sans Unicode"/>
                <a:cs typeface="Lucida Sans Unicode"/>
              </a:rPr>
              <a:t>t</a:t>
            </a:r>
            <a:r>
              <a:rPr sz="1750" spc="-35" dirty="0">
                <a:solidFill>
                  <a:srgbClr val="49495A"/>
                </a:solidFill>
                <a:latin typeface="Lucida Sans Unicode"/>
                <a:cs typeface="Lucida Sans Unicode"/>
              </a:rPr>
              <a:t>o</a:t>
            </a:r>
            <a:r>
              <a:rPr sz="1750" spc="-114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5" dirty="0">
                <a:solidFill>
                  <a:srgbClr val="49495A"/>
                </a:solidFill>
                <a:latin typeface="Lucida Sans Unicode"/>
                <a:cs typeface="Lucida Sans Unicode"/>
              </a:rPr>
              <a:t>re</a:t>
            </a:r>
            <a:r>
              <a:rPr sz="1750" dirty="0">
                <a:solidFill>
                  <a:srgbClr val="49495A"/>
                </a:solidFill>
                <a:latin typeface="Lucida Sans Unicode"/>
                <a:cs typeface="Lucida Sans Unicode"/>
              </a:rPr>
              <a:t>n</a:t>
            </a:r>
            <a:r>
              <a:rPr sz="1750" spc="-5" dirty="0">
                <a:solidFill>
                  <a:srgbClr val="49495A"/>
                </a:solidFill>
                <a:latin typeface="Lucida Sans Unicode"/>
                <a:cs typeface="Lucida Sans Unicode"/>
              </a:rPr>
              <a:t>ewa</a:t>
            </a:r>
            <a:r>
              <a:rPr sz="1750" spc="-15" dirty="0">
                <a:solidFill>
                  <a:srgbClr val="49495A"/>
                </a:solidFill>
                <a:latin typeface="Lucida Sans Unicode"/>
                <a:cs typeface="Lucida Sans Unicode"/>
              </a:rPr>
              <a:t>b</a:t>
            </a:r>
            <a:r>
              <a:rPr sz="1750" spc="-40" dirty="0">
                <a:solidFill>
                  <a:srgbClr val="49495A"/>
                </a:solidFill>
                <a:latin typeface="Lucida Sans Unicode"/>
                <a:cs typeface="Lucida Sans Unicode"/>
              </a:rPr>
              <a:t>le</a:t>
            </a:r>
            <a:r>
              <a:rPr sz="1750" spc="-45" dirty="0">
                <a:solidFill>
                  <a:srgbClr val="49495A"/>
                </a:solidFill>
                <a:latin typeface="Lucida Sans Unicode"/>
                <a:cs typeface="Lucida Sans Unicode"/>
              </a:rPr>
              <a:t>s</a:t>
            </a:r>
            <a:r>
              <a:rPr sz="1750" spc="-11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55" dirty="0">
                <a:solidFill>
                  <a:srgbClr val="49495A"/>
                </a:solidFill>
                <a:latin typeface="Lucida Sans Unicode"/>
                <a:cs typeface="Lucida Sans Unicode"/>
              </a:rPr>
              <a:t>(so</a:t>
            </a:r>
            <a:r>
              <a:rPr sz="1750" spc="-30" dirty="0">
                <a:solidFill>
                  <a:srgbClr val="49495A"/>
                </a:solidFill>
                <a:latin typeface="Lucida Sans Unicode"/>
                <a:cs typeface="Lucida Sans Unicode"/>
              </a:rPr>
              <a:t>l</a:t>
            </a:r>
            <a:r>
              <a:rPr sz="1750" spc="-35" dirty="0">
                <a:solidFill>
                  <a:srgbClr val="49495A"/>
                </a:solidFill>
                <a:latin typeface="Lucida Sans Unicode"/>
                <a:cs typeface="Lucida Sans Unicode"/>
              </a:rPr>
              <a:t>ar,</a:t>
            </a:r>
            <a:r>
              <a:rPr sz="1750" spc="-13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49495A"/>
                </a:solidFill>
                <a:latin typeface="Lucida Sans Unicode"/>
                <a:cs typeface="Lucida Sans Unicode"/>
              </a:rPr>
              <a:t>wi</a:t>
            </a:r>
            <a:r>
              <a:rPr sz="1750" spc="-20" dirty="0">
                <a:solidFill>
                  <a:srgbClr val="49495A"/>
                </a:solidFill>
                <a:latin typeface="Lucida Sans Unicode"/>
                <a:cs typeface="Lucida Sans Unicode"/>
              </a:rPr>
              <a:t>n</a:t>
            </a:r>
            <a:r>
              <a:rPr sz="1750" spc="-45" dirty="0">
                <a:solidFill>
                  <a:srgbClr val="49495A"/>
                </a:solidFill>
                <a:latin typeface="Lucida Sans Unicode"/>
                <a:cs typeface="Lucida Sans Unicode"/>
              </a:rPr>
              <a:t>d)</a:t>
            </a:r>
            <a:endParaRPr sz="175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-20" dirty="0">
                <a:solidFill>
                  <a:srgbClr val="49495A"/>
                </a:solidFill>
                <a:latin typeface="Lucida Sans Unicode"/>
                <a:cs typeface="Lucida Sans Unicode"/>
              </a:rPr>
              <a:t>Project</a:t>
            </a:r>
            <a:r>
              <a:rPr sz="1750" spc="-135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35" dirty="0">
                <a:solidFill>
                  <a:srgbClr val="49495A"/>
                </a:solidFill>
                <a:latin typeface="Lucida Sans Unicode"/>
                <a:cs typeface="Lucida Sans Unicode"/>
              </a:rPr>
              <a:t>pipeline</a:t>
            </a:r>
            <a:r>
              <a:rPr sz="1750" spc="-95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55" dirty="0">
                <a:solidFill>
                  <a:srgbClr val="49495A"/>
                </a:solidFill>
                <a:latin typeface="Lucida Sans Unicode"/>
                <a:cs typeface="Lucida Sans Unicode"/>
              </a:rPr>
              <a:t>&amp;</a:t>
            </a:r>
            <a:r>
              <a:rPr sz="1750" spc="-114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49495A"/>
                </a:solidFill>
                <a:latin typeface="Lucida Sans Unicode"/>
                <a:cs typeface="Lucida Sans Unicode"/>
              </a:rPr>
              <a:t>government</a:t>
            </a:r>
            <a:r>
              <a:rPr sz="1750" spc="-105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49495A"/>
                </a:solidFill>
                <a:latin typeface="Lucida Sans Unicode"/>
                <a:cs typeface="Lucida Sans Unicode"/>
              </a:rPr>
              <a:t>clearances</a:t>
            </a:r>
            <a:endParaRPr sz="175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-35" dirty="0">
                <a:solidFill>
                  <a:srgbClr val="49495A"/>
                </a:solidFill>
                <a:latin typeface="Lucida Sans Unicode"/>
                <a:cs typeface="Lucida Sans Unicode"/>
              </a:rPr>
              <a:t>External</a:t>
            </a:r>
            <a:r>
              <a:rPr sz="1750" spc="-11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49495A"/>
                </a:solidFill>
                <a:latin typeface="Lucida Sans Unicode"/>
                <a:cs typeface="Lucida Sans Unicode"/>
              </a:rPr>
              <a:t>factors:</a:t>
            </a:r>
            <a:r>
              <a:rPr sz="1750" spc="-11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55" dirty="0">
                <a:solidFill>
                  <a:srgbClr val="49495A"/>
                </a:solidFill>
                <a:latin typeface="Lucida Sans Unicode"/>
                <a:cs typeface="Lucida Sans Unicode"/>
              </a:rPr>
              <a:t>policy,</a:t>
            </a:r>
            <a:r>
              <a:rPr sz="1750" spc="-125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40" dirty="0">
                <a:solidFill>
                  <a:srgbClr val="49495A"/>
                </a:solidFill>
                <a:latin typeface="Lucida Sans Unicode"/>
                <a:cs typeface="Lucida Sans Unicode"/>
              </a:rPr>
              <a:t>elections,</a:t>
            </a:r>
            <a:r>
              <a:rPr sz="1750" spc="-114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55" dirty="0">
                <a:solidFill>
                  <a:srgbClr val="49495A"/>
                </a:solidFill>
                <a:latin typeface="Lucida Sans Unicode"/>
                <a:cs typeface="Lucida Sans Unicode"/>
              </a:rPr>
              <a:t>global</a:t>
            </a:r>
            <a:r>
              <a:rPr sz="1750" spc="-105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49495A"/>
                </a:solidFill>
                <a:latin typeface="Lucida Sans Unicode"/>
                <a:cs typeface="Lucida Sans Unicode"/>
              </a:rPr>
              <a:t>trends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87488" y="3774694"/>
            <a:ext cx="4420235" cy="1824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80" dirty="0">
                <a:solidFill>
                  <a:srgbClr val="403CCF"/>
                </a:solidFill>
                <a:latin typeface="Book Antiqua"/>
                <a:cs typeface="Book Antiqua"/>
              </a:rPr>
              <a:t>Research</a:t>
            </a:r>
            <a:r>
              <a:rPr sz="2200" spc="80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spc="185" dirty="0">
                <a:solidFill>
                  <a:srgbClr val="403CCF"/>
                </a:solidFill>
                <a:latin typeface="Book Antiqua"/>
                <a:cs typeface="Book Antiqua"/>
              </a:rPr>
              <a:t>Methodology</a:t>
            </a:r>
            <a:endParaRPr sz="22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750" spc="-15" dirty="0">
                <a:solidFill>
                  <a:srgbClr val="49495A"/>
                </a:solidFill>
                <a:latin typeface="Lucida Sans Unicode"/>
                <a:cs typeface="Lucida Sans Unicode"/>
              </a:rPr>
              <a:t>Data</a:t>
            </a:r>
            <a:r>
              <a:rPr sz="1750" spc="-10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49495A"/>
                </a:solidFill>
                <a:latin typeface="Lucida Sans Unicode"/>
                <a:cs typeface="Lucida Sans Unicode"/>
              </a:rPr>
              <a:t>collection:</a:t>
            </a:r>
            <a:r>
              <a:rPr sz="1750" spc="-14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49495A"/>
                </a:solidFill>
                <a:latin typeface="Lucida Sans Unicode"/>
                <a:cs typeface="Lucida Sans Unicode"/>
              </a:rPr>
              <a:t>Financials,</a:t>
            </a:r>
            <a:r>
              <a:rPr sz="1750" spc="-135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50" dirty="0">
                <a:solidFill>
                  <a:srgbClr val="49495A"/>
                </a:solidFill>
                <a:latin typeface="Lucida Sans Unicode"/>
                <a:cs typeface="Lucida Sans Unicode"/>
              </a:rPr>
              <a:t>SEB</a:t>
            </a:r>
            <a:r>
              <a:rPr sz="1750" spc="-105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20" dirty="0">
                <a:solidFill>
                  <a:srgbClr val="49495A"/>
                </a:solidFill>
                <a:latin typeface="Lucida Sans Unicode"/>
                <a:cs typeface="Lucida Sans Unicode"/>
              </a:rPr>
              <a:t>health</a:t>
            </a:r>
            <a:endParaRPr sz="175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750" spc="-30" dirty="0">
                <a:solidFill>
                  <a:srgbClr val="49495A"/>
                </a:solidFill>
                <a:latin typeface="Lucida Sans Unicode"/>
                <a:cs typeface="Lucida Sans Unicode"/>
              </a:rPr>
              <a:t>Fina</a:t>
            </a:r>
            <a:r>
              <a:rPr sz="1750" spc="-25" dirty="0">
                <a:solidFill>
                  <a:srgbClr val="49495A"/>
                </a:solidFill>
                <a:latin typeface="Lucida Sans Unicode"/>
                <a:cs typeface="Lucida Sans Unicode"/>
              </a:rPr>
              <a:t>n</a:t>
            </a:r>
            <a:r>
              <a:rPr sz="1750" spc="-45" dirty="0">
                <a:solidFill>
                  <a:srgbClr val="49495A"/>
                </a:solidFill>
                <a:latin typeface="Lucida Sans Unicode"/>
                <a:cs typeface="Lucida Sans Unicode"/>
              </a:rPr>
              <a:t>cial</a:t>
            </a:r>
            <a:r>
              <a:rPr sz="1750" spc="-13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30" dirty="0">
                <a:solidFill>
                  <a:srgbClr val="49495A"/>
                </a:solidFill>
                <a:latin typeface="Lucida Sans Unicode"/>
                <a:cs typeface="Lucida Sans Unicode"/>
              </a:rPr>
              <a:t>analy</a:t>
            </a:r>
            <a:r>
              <a:rPr sz="1750" spc="-25" dirty="0">
                <a:solidFill>
                  <a:srgbClr val="49495A"/>
                </a:solidFill>
                <a:latin typeface="Lucida Sans Unicode"/>
                <a:cs typeface="Lucida Sans Unicode"/>
              </a:rPr>
              <a:t>s</a:t>
            </a:r>
            <a:r>
              <a:rPr sz="1750" spc="-50" dirty="0">
                <a:solidFill>
                  <a:srgbClr val="49495A"/>
                </a:solidFill>
                <a:latin typeface="Lucida Sans Unicode"/>
                <a:cs typeface="Lucida Sans Unicode"/>
              </a:rPr>
              <a:t>i</a:t>
            </a:r>
            <a:r>
              <a:rPr sz="1750" spc="-80" dirty="0">
                <a:solidFill>
                  <a:srgbClr val="49495A"/>
                </a:solidFill>
                <a:latin typeface="Lucida Sans Unicode"/>
                <a:cs typeface="Lucida Sans Unicode"/>
              </a:rPr>
              <a:t>s</a:t>
            </a:r>
            <a:r>
              <a:rPr sz="1750" spc="-95" dirty="0">
                <a:solidFill>
                  <a:srgbClr val="49495A"/>
                </a:solidFill>
                <a:latin typeface="Lucida Sans Unicode"/>
                <a:cs typeface="Lucida Sans Unicode"/>
              </a:rPr>
              <a:t>:</a:t>
            </a:r>
            <a:r>
              <a:rPr sz="1750" spc="-114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49495A"/>
                </a:solidFill>
                <a:latin typeface="Lucida Sans Unicode"/>
                <a:cs typeface="Lucida Sans Unicode"/>
              </a:rPr>
              <a:t>P</a:t>
            </a:r>
            <a:r>
              <a:rPr sz="1750" spc="-90" dirty="0">
                <a:solidFill>
                  <a:srgbClr val="49495A"/>
                </a:solidFill>
                <a:latin typeface="Lucida Sans Unicode"/>
                <a:cs typeface="Lucida Sans Unicode"/>
              </a:rPr>
              <a:t>/</a:t>
            </a:r>
            <a:r>
              <a:rPr sz="1750" spc="-40" dirty="0">
                <a:solidFill>
                  <a:srgbClr val="49495A"/>
                </a:solidFill>
                <a:latin typeface="Lucida Sans Unicode"/>
                <a:cs typeface="Lucida Sans Unicode"/>
              </a:rPr>
              <a:t>E,</a:t>
            </a:r>
            <a:r>
              <a:rPr sz="1750" spc="-12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35" dirty="0">
                <a:solidFill>
                  <a:srgbClr val="49495A"/>
                </a:solidFill>
                <a:latin typeface="Lucida Sans Unicode"/>
                <a:cs typeface="Lucida Sans Unicode"/>
              </a:rPr>
              <a:t>ROE</a:t>
            </a:r>
            <a:r>
              <a:rPr sz="1750" spc="-15" dirty="0">
                <a:solidFill>
                  <a:srgbClr val="49495A"/>
                </a:solidFill>
                <a:latin typeface="Lucida Sans Unicode"/>
                <a:cs typeface="Lucida Sans Unicode"/>
              </a:rPr>
              <a:t>,</a:t>
            </a:r>
            <a:r>
              <a:rPr sz="1750" spc="-12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49495A"/>
                </a:solidFill>
                <a:latin typeface="Lucida Sans Unicode"/>
                <a:cs typeface="Lucida Sans Unicode"/>
              </a:rPr>
              <a:t>Debt</a:t>
            </a:r>
            <a:r>
              <a:rPr sz="1750" spc="-9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49495A"/>
                </a:solidFill>
                <a:latin typeface="Lucida Sans Unicode"/>
                <a:cs typeface="Lucida Sans Unicode"/>
              </a:rPr>
              <a:t>ratio</a:t>
            </a:r>
            <a:r>
              <a:rPr sz="1750" spc="-60" dirty="0">
                <a:solidFill>
                  <a:srgbClr val="49495A"/>
                </a:solidFill>
                <a:latin typeface="Lucida Sans Unicode"/>
                <a:cs typeface="Lucida Sans Unicode"/>
              </a:rPr>
              <a:t>s</a:t>
            </a:r>
            <a:endParaRPr sz="175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750" spc="-55" dirty="0">
                <a:solidFill>
                  <a:srgbClr val="49495A"/>
                </a:solidFill>
                <a:latin typeface="Lucida Sans Unicode"/>
                <a:cs typeface="Lucida Sans Unicode"/>
              </a:rPr>
              <a:t>Ris</a:t>
            </a:r>
            <a:r>
              <a:rPr sz="1750" spc="-105" dirty="0">
                <a:solidFill>
                  <a:srgbClr val="49495A"/>
                </a:solidFill>
                <a:latin typeface="Lucida Sans Unicode"/>
                <a:cs typeface="Lucida Sans Unicode"/>
              </a:rPr>
              <a:t>k</a:t>
            </a:r>
            <a:r>
              <a:rPr sz="1750" spc="-12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49495A"/>
                </a:solidFill>
                <a:latin typeface="Lucida Sans Unicode"/>
                <a:cs typeface="Lucida Sans Unicode"/>
              </a:rPr>
              <a:t>sc</a:t>
            </a:r>
            <a:r>
              <a:rPr sz="1750" spc="-50" dirty="0">
                <a:solidFill>
                  <a:srgbClr val="49495A"/>
                </a:solidFill>
                <a:latin typeface="Lucida Sans Unicode"/>
                <a:cs typeface="Lucida Sans Unicode"/>
              </a:rPr>
              <a:t>o</a:t>
            </a:r>
            <a:r>
              <a:rPr sz="1750" spc="-35" dirty="0">
                <a:solidFill>
                  <a:srgbClr val="49495A"/>
                </a:solidFill>
                <a:latin typeface="Lucida Sans Unicode"/>
                <a:cs typeface="Lucida Sans Unicode"/>
              </a:rPr>
              <a:t>ri</a:t>
            </a:r>
            <a:r>
              <a:rPr sz="1750" spc="-15" dirty="0">
                <a:solidFill>
                  <a:srgbClr val="49495A"/>
                </a:solidFill>
                <a:latin typeface="Lucida Sans Unicode"/>
                <a:cs typeface="Lucida Sans Unicode"/>
              </a:rPr>
              <a:t>n</a:t>
            </a:r>
            <a:r>
              <a:rPr sz="1750" spc="-120" dirty="0">
                <a:solidFill>
                  <a:srgbClr val="49495A"/>
                </a:solidFill>
                <a:latin typeface="Lucida Sans Unicode"/>
                <a:cs typeface="Lucida Sans Unicode"/>
              </a:rPr>
              <a:t>g:</a:t>
            </a:r>
            <a:r>
              <a:rPr sz="1750" spc="-13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49495A"/>
                </a:solidFill>
                <a:latin typeface="Lucida Sans Unicode"/>
                <a:cs typeface="Lucida Sans Unicode"/>
              </a:rPr>
              <a:t>Fuel</a:t>
            </a:r>
            <a:r>
              <a:rPr sz="1750" spc="-30" dirty="0">
                <a:solidFill>
                  <a:srgbClr val="49495A"/>
                </a:solidFill>
                <a:latin typeface="Lucida Sans Unicode"/>
                <a:cs typeface="Lucida Sans Unicode"/>
              </a:rPr>
              <a:t>,</a:t>
            </a:r>
            <a:r>
              <a:rPr sz="1750" spc="-12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50" dirty="0">
                <a:solidFill>
                  <a:srgbClr val="49495A"/>
                </a:solidFill>
                <a:latin typeface="Lucida Sans Unicode"/>
                <a:cs typeface="Lucida Sans Unicode"/>
              </a:rPr>
              <a:t>SE</a:t>
            </a:r>
            <a:r>
              <a:rPr sz="1750" spc="45" dirty="0">
                <a:solidFill>
                  <a:srgbClr val="49495A"/>
                </a:solidFill>
                <a:latin typeface="Lucida Sans Unicode"/>
                <a:cs typeface="Lucida Sans Unicode"/>
              </a:rPr>
              <a:t>B</a:t>
            </a:r>
            <a:r>
              <a:rPr sz="1750" spc="-105" dirty="0">
                <a:solidFill>
                  <a:srgbClr val="49495A"/>
                </a:solidFill>
                <a:latin typeface="Lucida Sans Unicode"/>
                <a:cs typeface="Lucida Sans Unicode"/>
              </a:rPr>
              <a:t>,</a:t>
            </a:r>
            <a:r>
              <a:rPr sz="1750" spc="-100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85" dirty="0">
                <a:solidFill>
                  <a:srgbClr val="49495A"/>
                </a:solidFill>
                <a:latin typeface="Lucida Sans Unicode"/>
                <a:cs typeface="Lucida Sans Unicode"/>
              </a:rPr>
              <a:t>PP</a:t>
            </a:r>
            <a:r>
              <a:rPr sz="1750" spc="-100" dirty="0">
                <a:solidFill>
                  <a:srgbClr val="49495A"/>
                </a:solidFill>
                <a:latin typeface="Lucida Sans Unicode"/>
                <a:cs typeface="Lucida Sans Unicode"/>
              </a:rPr>
              <a:t>A</a:t>
            </a:r>
            <a:r>
              <a:rPr sz="1750" spc="-114" dirty="0">
                <a:solidFill>
                  <a:srgbClr val="49495A"/>
                </a:solidFill>
                <a:latin typeface="Lucida Sans Unicode"/>
                <a:cs typeface="Lucida Sans Unicode"/>
              </a:rPr>
              <a:t> </a:t>
            </a:r>
            <a:r>
              <a:rPr sz="1750" spc="-60" dirty="0">
                <a:solidFill>
                  <a:srgbClr val="49495A"/>
                </a:solidFill>
                <a:latin typeface="Lucida Sans Unicode"/>
                <a:cs typeface="Lucida Sans Unicode"/>
              </a:rPr>
              <a:t>ex</a:t>
            </a:r>
            <a:r>
              <a:rPr sz="1750" spc="-75" dirty="0">
                <a:solidFill>
                  <a:srgbClr val="49495A"/>
                </a:solidFill>
                <a:latin typeface="Lucida Sans Unicode"/>
                <a:cs typeface="Lucida Sans Unicode"/>
              </a:rPr>
              <a:t>p</a:t>
            </a:r>
            <a:r>
              <a:rPr sz="1750" spc="-40" dirty="0">
                <a:solidFill>
                  <a:srgbClr val="49495A"/>
                </a:solidFill>
                <a:latin typeface="Lucida Sans Unicode"/>
                <a:cs typeface="Lucida Sans Unicode"/>
              </a:rPr>
              <a:t>os</a:t>
            </a:r>
            <a:r>
              <a:rPr sz="1750" spc="-15" dirty="0">
                <a:solidFill>
                  <a:srgbClr val="49495A"/>
                </a:solidFill>
                <a:latin typeface="Lucida Sans Unicode"/>
                <a:cs typeface="Lucida Sans Unicode"/>
              </a:rPr>
              <a:t>u</a:t>
            </a:r>
            <a:r>
              <a:rPr sz="1750" spc="-20" dirty="0">
                <a:solidFill>
                  <a:srgbClr val="49495A"/>
                </a:solidFill>
                <a:latin typeface="Lucida Sans Unicode"/>
                <a:cs typeface="Lucida Sans Unicode"/>
              </a:rPr>
              <a:t>res</a:t>
            </a:r>
            <a:endParaRPr sz="17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BFAFF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0110" y="517016"/>
            <a:ext cx="7926705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50" spc="480" dirty="0"/>
              <a:t>Top</a:t>
            </a:r>
            <a:r>
              <a:rPr sz="3850" spc="100" dirty="0"/>
              <a:t> </a:t>
            </a:r>
            <a:r>
              <a:rPr sz="3850" spc="295" dirty="0"/>
              <a:t>Indian</a:t>
            </a:r>
            <a:r>
              <a:rPr sz="3850" spc="130" dirty="0"/>
              <a:t> </a:t>
            </a:r>
            <a:r>
              <a:rPr sz="3850" spc="204" dirty="0"/>
              <a:t>Utilities</a:t>
            </a:r>
            <a:r>
              <a:rPr sz="3850" spc="130" dirty="0"/>
              <a:t> </a:t>
            </a:r>
            <a:r>
              <a:rPr sz="3850" spc="340" dirty="0"/>
              <a:t>Companies</a:t>
            </a:r>
            <a:endParaRPr sz="38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708" y="1467738"/>
            <a:ext cx="3125597" cy="19316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0110" y="3622675"/>
            <a:ext cx="3047365" cy="1061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65" dirty="0">
                <a:solidFill>
                  <a:srgbClr val="49495A"/>
                </a:solidFill>
                <a:latin typeface="Book Antiqua"/>
                <a:cs typeface="Book Antiqua"/>
              </a:rPr>
              <a:t>Tata</a:t>
            </a:r>
            <a:r>
              <a:rPr sz="1900" spc="15" dirty="0">
                <a:solidFill>
                  <a:srgbClr val="49495A"/>
                </a:solidFill>
                <a:latin typeface="Book Antiqua"/>
                <a:cs typeface="Book Antiqua"/>
              </a:rPr>
              <a:t> </a:t>
            </a:r>
            <a:r>
              <a:rPr sz="1900" spc="140" dirty="0">
                <a:solidFill>
                  <a:srgbClr val="49495A"/>
                </a:solidFill>
                <a:latin typeface="Book Antiqua"/>
                <a:cs typeface="Book Antiqua"/>
              </a:rPr>
              <a:t>Power</a:t>
            </a:r>
            <a:endParaRPr sz="19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70</a:t>
            </a:r>
            <a:r>
              <a:rPr sz="1550" spc="-235" dirty="0">
                <a:solidFill>
                  <a:srgbClr val="49495A"/>
                </a:solidFill>
                <a:latin typeface="Tahoma"/>
                <a:cs typeface="Tahoma"/>
              </a:rPr>
              <a:t>%</a:t>
            </a:r>
            <a:r>
              <a:rPr sz="1550" spc="-7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65" dirty="0">
                <a:solidFill>
                  <a:srgbClr val="49495A"/>
                </a:solidFill>
                <a:latin typeface="Tahoma"/>
                <a:cs typeface="Tahoma"/>
              </a:rPr>
              <a:t>ren</a:t>
            </a:r>
            <a:r>
              <a:rPr sz="1550" spc="60" dirty="0">
                <a:solidFill>
                  <a:srgbClr val="49495A"/>
                </a:solidFill>
                <a:latin typeface="Tahoma"/>
                <a:cs typeface="Tahoma"/>
              </a:rPr>
              <a:t>e</a:t>
            </a:r>
            <a:r>
              <a:rPr sz="1550" spc="65" dirty="0">
                <a:solidFill>
                  <a:srgbClr val="49495A"/>
                </a:solidFill>
                <a:latin typeface="Tahoma"/>
                <a:cs typeface="Tahoma"/>
              </a:rPr>
              <a:t>wab</a:t>
            </a:r>
            <a:r>
              <a:rPr sz="1550" spc="25" dirty="0">
                <a:solidFill>
                  <a:srgbClr val="49495A"/>
                </a:solidFill>
                <a:latin typeface="Tahoma"/>
                <a:cs typeface="Tahoma"/>
              </a:rPr>
              <a:t>l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e</a:t>
            </a:r>
            <a:r>
              <a:rPr sz="1550" spc="-7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ca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pac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i</a:t>
            </a:r>
            <a:r>
              <a:rPr sz="1550" spc="5" dirty="0">
                <a:solidFill>
                  <a:srgbClr val="49495A"/>
                </a:solidFill>
                <a:latin typeface="Tahoma"/>
                <a:cs typeface="Tahoma"/>
              </a:rPr>
              <a:t>t</a:t>
            </a:r>
            <a:r>
              <a:rPr sz="1550" spc="20" dirty="0">
                <a:solidFill>
                  <a:srgbClr val="49495A"/>
                </a:solidFill>
                <a:latin typeface="Tahoma"/>
                <a:cs typeface="Tahoma"/>
              </a:rPr>
              <a:t>y</a:t>
            </a:r>
            <a:r>
              <a:rPr sz="1550" spc="-114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45" dirty="0">
                <a:solidFill>
                  <a:srgbClr val="49495A"/>
                </a:solidFill>
                <a:latin typeface="Tahoma"/>
                <a:cs typeface="Tahoma"/>
              </a:rPr>
              <a:t>by</a:t>
            </a:r>
            <a:r>
              <a:rPr sz="1550" spc="-8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2025</a:t>
            </a:r>
            <a:r>
              <a:rPr sz="1550" spc="-70" dirty="0">
                <a:solidFill>
                  <a:srgbClr val="49495A"/>
                </a:solidFill>
                <a:latin typeface="Tahoma"/>
                <a:cs typeface="Tahoma"/>
              </a:rPr>
              <a:t>,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$9B</a:t>
            </a:r>
            <a:r>
              <a:rPr sz="1550" spc="-9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45" dirty="0">
                <a:solidFill>
                  <a:srgbClr val="49495A"/>
                </a:solidFill>
                <a:latin typeface="Tahoma"/>
                <a:cs typeface="Tahoma"/>
              </a:rPr>
              <a:t>investment</a:t>
            </a:r>
            <a:r>
              <a:rPr sz="1550" spc="-6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9495A"/>
                </a:solidFill>
                <a:latin typeface="Tahoma"/>
                <a:cs typeface="Tahoma"/>
              </a:rPr>
              <a:t>plan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0110" y="4773625"/>
            <a:ext cx="2974340" cy="2885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34500"/>
              </a:lnSpc>
              <a:spcBef>
                <a:spcPts val="105"/>
              </a:spcBef>
              <a:buFont typeface="Tahoma"/>
              <a:buChar char="•"/>
              <a:tabLst>
                <a:tab pos="354965" algn="l"/>
                <a:tab pos="355600" algn="l"/>
              </a:tabLst>
            </a:pPr>
            <a:r>
              <a:rPr sz="1550" b="1" spc="20" dirty="0">
                <a:solidFill>
                  <a:srgbClr val="49495A"/>
                </a:solidFill>
                <a:latin typeface="Trebuchet MS"/>
                <a:cs typeface="Trebuchet MS"/>
              </a:rPr>
              <a:t>R</a:t>
            </a:r>
            <a:r>
              <a:rPr sz="1550" b="1" spc="-20" dirty="0">
                <a:solidFill>
                  <a:srgbClr val="49495A"/>
                </a:solidFill>
                <a:latin typeface="Trebuchet MS"/>
                <a:cs typeface="Trebuchet MS"/>
              </a:rPr>
              <a:t>e</a:t>
            </a:r>
            <a:r>
              <a:rPr sz="1550" b="1" spc="-45" dirty="0">
                <a:solidFill>
                  <a:srgbClr val="49495A"/>
                </a:solidFill>
                <a:latin typeface="Trebuchet MS"/>
                <a:cs typeface="Trebuchet MS"/>
              </a:rPr>
              <a:t>c</a:t>
            </a:r>
            <a:r>
              <a:rPr sz="1550" b="1" spc="-20" dirty="0">
                <a:solidFill>
                  <a:srgbClr val="49495A"/>
                </a:solidFill>
                <a:latin typeface="Trebuchet MS"/>
                <a:cs typeface="Trebuchet MS"/>
              </a:rPr>
              <a:t>e</a:t>
            </a:r>
            <a:r>
              <a:rPr sz="1550" b="1" spc="-25" dirty="0">
                <a:solidFill>
                  <a:srgbClr val="49495A"/>
                </a:solidFill>
                <a:latin typeface="Trebuchet MS"/>
                <a:cs typeface="Trebuchet MS"/>
              </a:rPr>
              <a:t>n</a:t>
            </a:r>
            <a:r>
              <a:rPr sz="1550" b="1" spc="-15" dirty="0">
                <a:solidFill>
                  <a:srgbClr val="49495A"/>
                </a:solidFill>
                <a:latin typeface="Trebuchet MS"/>
                <a:cs typeface="Trebuchet MS"/>
              </a:rPr>
              <a:t>t</a:t>
            </a:r>
            <a:r>
              <a:rPr sz="1550" b="1" spc="-10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550" b="1" spc="135" dirty="0">
                <a:solidFill>
                  <a:srgbClr val="49495A"/>
                </a:solidFill>
                <a:latin typeface="Trebuchet MS"/>
                <a:cs typeface="Trebuchet MS"/>
              </a:rPr>
              <a:t>D</a:t>
            </a:r>
            <a:r>
              <a:rPr sz="1550" b="1" spc="-20" dirty="0">
                <a:solidFill>
                  <a:srgbClr val="49495A"/>
                </a:solidFill>
                <a:latin typeface="Trebuchet MS"/>
                <a:cs typeface="Trebuchet MS"/>
              </a:rPr>
              <a:t>e</a:t>
            </a:r>
            <a:r>
              <a:rPr sz="1550" b="1" spc="-40" dirty="0">
                <a:solidFill>
                  <a:srgbClr val="49495A"/>
                </a:solidFill>
                <a:latin typeface="Trebuchet MS"/>
                <a:cs typeface="Trebuchet MS"/>
              </a:rPr>
              <a:t>v</a:t>
            </a:r>
            <a:r>
              <a:rPr sz="1550" b="1" spc="-20" dirty="0">
                <a:solidFill>
                  <a:srgbClr val="49495A"/>
                </a:solidFill>
                <a:latin typeface="Trebuchet MS"/>
                <a:cs typeface="Trebuchet MS"/>
              </a:rPr>
              <a:t>e</a:t>
            </a:r>
            <a:r>
              <a:rPr sz="1550" b="1" spc="-70" dirty="0">
                <a:solidFill>
                  <a:srgbClr val="49495A"/>
                </a:solidFill>
                <a:latin typeface="Trebuchet MS"/>
                <a:cs typeface="Trebuchet MS"/>
              </a:rPr>
              <a:t>l</a:t>
            </a:r>
            <a:r>
              <a:rPr sz="1550" b="1" spc="45" dirty="0">
                <a:solidFill>
                  <a:srgbClr val="49495A"/>
                </a:solidFill>
                <a:latin typeface="Trebuchet MS"/>
                <a:cs typeface="Trebuchet MS"/>
              </a:rPr>
              <a:t>o</a:t>
            </a:r>
            <a:r>
              <a:rPr sz="1550" b="1" spc="60" dirty="0">
                <a:solidFill>
                  <a:srgbClr val="49495A"/>
                </a:solidFill>
                <a:latin typeface="Trebuchet MS"/>
                <a:cs typeface="Trebuchet MS"/>
              </a:rPr>
              <a:t>p</a:t>
            </a:r>
            <a:r>
              <a:rPr sz="1550" b="1" spc="90" dirty="0">
                <a:solidFill>
                  <a:srgbClr val="49495A"/>
                </a:solidFill>
                <a:latin typeface="Trebuchet MS"/>
                <a:cs typeface="Trebuchet MS"/>
              </a:rPr>
              <a:t>m</a:t>
            </a:r>
            <a:r>
              <a:rPr sz="1550" b="1" spc="-20" dirty="0">
                <a:solidFill>
                  <a:srgbClr val="49495A"/>
                </a:solidFill>
                <a:latin typeface="Trebuchet MS"/>
                <a:cs typeface="Trebuchet MS"/>
              </a:rPr>
              <a:t>e</a:t>
            </a:r>
            <a:r>
              <a:rPr sz="1550" b="1" spc="5" dirty="0">
                <a:solidFill>
                  <a:srgbClr val="49495A"/>
                </a:solidFill>
                <a:latin typeface="Trebuchet MS"/>
                <a:cs typeface="Trebuchet MS"/>
              </a:rPr>
              <a:t>nt</a:t>
            </a:r>
            <a:r>
              <a:rPr sz="1550" b="1" spc="10" dirty="0">
                <a:solidFill>
                  <a:srgbClr val="49495A"/>
                </a:solidFill>
                <a:latin typeface="Trebuchet MS"/>
                <a:cs typeface="Trebuchet MS"/>
              </a:rPr>
              <a:t>s</a:t>
            </a:r>
            <a:r>
              <a:rPr sz="1550" b="1" spc="-165" dirty="0">
                <a:solidFill>
                  <a:srgbClr val="49495A"/>
                </a:solidFill>
                <a:latin typeface="Trebuchet MS"/>
                <a:cs typeface="Trebuchet MS"/>
              </a:rPr>
              <a:t>:</a:t>
            </a:r>
            <a:r>
              <a:rPr sz="1550" b="1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550" spc="80" dirty="0">
                <a:solidFill>
                  <a:srgbClr val="49495A"/>
                </a:solidFill>
                <a:latin typeface="Tahoma"/>
                <a:cs typeface="Tahoma"/>
              </a:rPr>
              <a:t>P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l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ans 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to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invest </a:t>
            </a:r>
            <a:r>
              <a:rPr sz="1550" spc="85" dirty="0">
                <a:solidFill>
                  <a:srgbClr val="49495A"/>
                </a:solidFill>
                <a:latin typeface="Tahoma"/>
                <a:cs typeface="Tahoma"/>
              </a:rPr>
              <a:t>up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to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$9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billion to </a:t>
            </a:r>
            <a:r>
              <a:rPr sz="1550" spc="6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65" dirty="0">
                <a:solidFill>
                  <a:srgbClr val="49495A"/>
                </a:solidFill>
                <a:latin typeface="Tahoma"/>
                <a:cs typeface="Tahoma"/>
              </a:rPr>
              <a:t>expand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renewable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energy </a:t>
            </a:r>
            <a:r>
              <a:rPr sz="1550" spc="4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25" dirty="0">
                <a:solidFill>
                  <a:srgbClr val="49495A"/>
                </a:solidFill>
                <a:latin typeface="Tahoma"/>
                <a:cs typeface="Tahoma"/>
              </a:rPr>
              <a:t>capacity.</a:t>
            </a:r>
            <a:r>
              <a:rPr sz="1550" spc="25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7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3"/>
              </a:rPr>
              <a:t>Dhan </a:t>
            </a:r>
            <a:r>
              <a:rPr sz="1550" spc="75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2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3"/>
              </a:rPr>
              <a:t>Blog+2Wikipedia+2Upstox </a:t>
            </a:r>
            <a:r>
              <a:rPr sz="1550" u="sng" spc="-6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3"/>
              </a:rPr>
              <a:t>- </a:t>
            </a:r>
            <a:r>
              <a:rPr sz="1550" spc="-60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6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3"/>
              </a:rPr>
              <a:t>Online </a:t>
            </a:r>
            <a:r>
              <a:rPr sz="1550" u="sng" spc="3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3"/>
              </a:rPr>
              <a:t>Stock </a:t>
            </a:r>
            <a:r>
              <a:rPr sz="1550" u="sng" spc="7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3"/>
              </a:rPr>
              <a:t>and </a:t>
            </a:r>
            <a:r>
              <a:rPr sz="1550" u="sng" spc="4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3"/>
              </a:rPr>
              <a:t>Share </a:t>
            </a:r>
            <a:r>
              <a:rPr sz="1550" spc="50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2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3"/>
              </a:rPr>
              <a:t>Trading+2</a:t>
            </a:r>
            <a:r>
              <a:rPr sz="1550" u="sng" spc="2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Wikipedia+3Dhan </a:t>
            </a:r>
            <a:r>
              <a:rPr sz="1550" spc="25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7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Blo</a:t>
            </a:r>
            <a:r>
              <a:rPr sz="1550" u="sng" spc="-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g+3Up</a:t>
            </a:r>
            <a:r>
              <a:rPr sz="1550" u="sng" spc="3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s</a:t>
            </a:r>
            <a:r>
              <a:rPr sz="1550" u="sng" spc="4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t</a:t>
            </a:r>
            <a:r>
              <a:rPr sz="1550" u="sng" spc="7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o</a:t>
            </a:r>
            <a:r>
              <a:rPr sz="1550" u="sng" spc="4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x</a:t>
            </a:r>
            <a:r>
              <a:rPr sz="1550" u="sng" spc="-8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1550" u="sng" spc="-6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-</a:t>
            </a:r>
            <a:r>
              <a:rPr sz="1550" u="sng" spc="-8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1550" u="sng" spc="7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Onl</a:t>
            </a:r>
            <a:r>
              <a:rPr sz="1550" u="sng" spc="3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i</a:t>
            </a:r>
            <a:r>
              <a:rPr sz="1550" u="sng" spc="8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n</a:t>
            </a:r>
            <a:r>
              <a:rPr sz="1550" u="sng" spc="5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e</a:t>
            </a:r>
            <a:r>
              <a:rPr sz="1550" u="sng" spc="-9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1550" u="sng" spc="-1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S</a:t>
            </a:r>
            <a:r>
              <a:rPr sz="1550" u="sng" spc="4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t</a:t>
            </a:r>
            <a:r>
              <a:rPr sz="1550" u="sng" spc="8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o</a:t>
            </a:r>
            <a:r>
              <a:rPr sz="1550" u="sng" spc="2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ck </a:t>
            </a:r>
            <a:r>
              <a:rPr sz="1550" spc="20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7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and</a:t>
            </a:r>
            <a:r>
              <a:rPr sz="1550" u="sng" spc="-8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1550" u="sng" spc="4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Share</a:t>
            </a:r>
            <a:r>
              <a:rPr sz="1550" u="sng" spc="-9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1550" u="sng" spc="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Trading+3</a:t>
            </a:r>
            <a:endParaRPr sz="1550" dirty="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65778" y="1467611"/>
            <a:ext cx="3125724" cy="19317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53332" y="3622675"/>
            <a:ext cx="309181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00" dirty="0">
                <a:solidFill>
                  <a:srgbClr val="49495A"/>
                </a:solidFill>
                <a:latin typeface="Book Antiqua"/>
                <a:cs typeface="Book Antiqua"/>
              </a:rPr>
              <a:t>Adani</a:t>
            </a:r>
            <a:r>
              <a:rPr sz="1900" spc="30" dirty="0">
                <a:solidFill>
                  <a:srgbClr val="49495A"/>
                </a:solidFill>
                <a:latin typeface="Book Antiqua"/>
                <a:cs typeface="Book Antiqua"/>
              </a:rPr>
              <a:t> </a:t>
            </a:r>
            <a:r>
              <a:rPr sz="1900" spc="180" dirty="0">
                <a:solidFill>
                  <a:srgbClr val="49495A"/>
                </a:solidFill>
                <a:latin typeface="Book Antiqua"/>
                <a:cs typeface="Book Antiqua"/>
              </a:rPr>
              <a:t>Green</a:t>
            </a:r>
            <a:endParaRPr sz="1900">
              <a:latin typeface="Book Antiqua"/>
              <a:cs typeface="Book Antiqua"/>
            </a:endParaRPr>
          </a:p>
          <a:p>
            <a:pPr marL="12700" marR="5080">
              <a:lnSpc>
                <a:spcPct val="135000"/>
              </a:lnSpc>
              <a:spcBef>
                <a:spcPts val="860"/>
              </a:spcBef>
            </a:pPr>
            <a:r>
              <a:rPr sz="1550" spc="10" dirty="0">
                <a:solidFill>
                  <a:srgbClr val="49495A"/>
                </a:solidFill>
                <a:latin typeface="Tahoma"/>
                <a:cs typeface="Tahoma"/>
              </a:rPr>
              <a:t>14.2</a:t>
            </a:r>
            <a:r>
              <a:rPr sz="1550" spc="-8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GW</a:t>
            </a:r>
            <a:r>
              <a:rPr sz="1550" spc="-10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portfolio,</a:t>
            </a:r>
            <a:r>
              <a:rPr sz="1550" spc="-8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9495A"/>
                </a:solidFill>
                <a:latin typeface="Tahoma"/>
                <a:cs typeface="Tahoma"/>
              </a:rPr>
              <a:t>aims</a:t>
            </a:r>
            <a:r>
              <a:rPr sz="1550" spc="-9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50</a:t>
            </a:r>
            <a:r>
              <a:rPr sz="1550" spc="-9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GW</a:t>
            </a:r>
            <a:r>
              <a:rPr sz="1550" spc="-9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45" dirty="0">
                <a:solidFill>
                  <a:srgbClr val="49495A"/>
                </a:solidFill>
                <a:latin typeface="Tahoma"/>
                <a:cs typeface="Tahoma"/>
              </a:rPr>
              <a:t>by </a:t>
            </a:r>
            <a:r>
              <a:rPr sz="1550" spc="-47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15" dirty="0">
                <a:solidFill>
                  <a:srgbClr val="49495A"/>
                </a:solidFill>
                <a:latin typeface="Tahoma"/>
                <a:cs typeface="Tahoma"/>
              </a:rPr>
              <a:t>2030,</a:t>
            </a:r>
            <a:r>
              <a:rPr sz="1550" spc="-10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25" dirty="0">
                <a:solidFill>
                  <a:srgbClr val="49495A"/>
                </a:solidFill>
                <a:latin typeface="Tahoma"/>
                <a:cs typeface="Tahoma"/>
              </a:rPr>
              <a:t>$3.6B</a:t>
            </a:r>
            <a:r>
              <a:rPr sz="1550" spc="-8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capex</a:t>
            </a:r>
            <a:r>
              <a:rPr sz="1550" spc="-7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-10" dirty="0">
                <a:solidFill>
                  <a:srgbClr val="49495A"/>
                </a:solidFill>
                <a:latin typeface="Tahoma"/>
                <a:cs typeface="Tahoma"/>
              </a:rPr>
              <a:t>FY26.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3332" y="4772998"/>
            <a:ext cx="2934970" cy="980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080" indent="-343535">
              <a:lnSpc>
                <a:spcPct val="134600"/>
              </a:lnSpc>
              <a:spcBef>
                <a:spcPts val="110"/>
              </a:spcBef>
              <a:buFont typeface="Tahoma"/>
              <a:buChar char="•"/>
              <a:tabLst>
                <a:tab pos="355600" algn="l"/>
                <a:tab pos="356235" algn="l"/>
              </a:tabLst>
            </a:pPr>
            <a:r>
              <a:rPr sz="1550" b="1" spc="30" dirty="0">
                <a:solidFill>
                  <a:srgbClr val="49495A"/>
                </a:solidFill>
                <a:latin typeface="Trebuchet MS"/>
                <a:cs typeface="Trebuchet MS"/>
              </a:rPr>
              <a:t>P</a:t>
            </a:r>
            <a:r>
              <a:rPr sz="1550" b="1" spc="65" dirty="0">
                <a:solidFill>
                  <a:srgbClr val="49495A"/>
                </a:solidFill>
                <a:latin typeface="Trebuchet MS"/>
                <a:cs typeface="Trebuchet MS"/>
              </a:rPr>
              <a:t>o</a:t>
            </a:r>
            <a:r>
              <a:rPr sz="1550" b="1" spc="-20" dirty="0">
                <a:solidFill>
                  <a:srgbClr val="49495A"/>
                </a:solidFill>
                <a:latin typeface="Trebuchet MS"/>
                <a:cs typeface="Trebuchet MS"/>
              </a:rPr>
              <a:t>r</a:t>
            </a:r>
            <a:r>
              <a:rPr sz="1550" b="1" spc="-65" dirty="0">
                <a:solidFill>
                  <a:srgbClr val="49495A"/>
                </a:solidFill>
                <a:latin typeface="Trebuchet MS"/>
                <a:cs typeface="Trebuchet MS"/>
              </a:rPr>
              <a:t>t</a:t>
            </a:r>
            <a:r>
              <a:rPr sz="1550" b="1" spc="-50" dirty="0">
                <a:solidFill>
                  <a:srgbClr val="49495A"/>
                </a:solidFill>
                <a:latin typeface="Trebuchet MS"/>
                <a:cs typeface="Trebuchet MS"/>
              </a:rPr>
              <a:t>f</a:t>
            </a:r>
            <a:r>
              <a:rPr sz="1550" b="1" spc="-40" dirty="0">
                <a:solidFill>
                  <a:srgbClr val="49495A"/>
                </a:solidFill>
                <a:latin typeface="Trebuchet MS"/>
                <a:cs typeface="Trebuchet MS"/>
              </a:rPr>
              <a:t>olio:</a:t>
            </a:r>
            <a:r>
              <a:rPr sz="1550" b="1" spc="-10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550" spc="40" dirty="0">
                <a:solidFill>
                  <a:srgbClr val="49495A"/>
                </a:solidFill>
                <a:latin typeface="Tahoma"/>
                <a:cs typeface="Tahoma"/>
              </a:rPr>
              <a:t>C</a:t>
            </a:r>
            <a:r>
              <a:rPr sz="1550" spc="60" dirty="0">
                <a:solidFill>
                  <a:srgbClr val="49495A"/>
                </a:solidFill>
                <a:latin typeface="Tahoma"/>
                <a:cs typeface="Tahoma"/>
              </a:rPr>
              <a:t>urr</a:t>
            </a:r>
            <a:r>
              <a:rPr sz="1550" spc="70" dirty="0">
                <a:solidFill>
                  <a:srgbClr val="49495A"/>
                </a:solidFill>
                <a:latin typeface="Tahoma"/>
                <a:cs typeface="Tahoma"/>
              </a:rPr>
              <a:t>e</a:t>
            </a:r>
            <a:r>
              <a:rPr sz="1550" spc="30" dirty="0">
                <a:solidFill>
                  <a:srgbClr val="49495A"/>
                </a:solidFill>
                <a:latin typeface="Tahoma"/>
                <a:cs typeface="Tahoma"/>
              </a:rPr>
              <a:t>ntl</a:t>
            </a:r>
            <a:r>
              <a:rPr sz="1550" spc="45" dirty="0">
                <a:solidFill>
                  <a:srgbClr val="49495A"/>
                </a:solidFill>
                <a:latin typeface="Tahoma"/>
                <a:cs typeface="Tahoma"/>
              </a:rPr>
              <a:t>y</a:t>
            </a:r>
            <a:r>
              <a:rPr sz="1550" spc="-7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ha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s</a:t>
            </a:r>
            <a:r>
              <a:rPr sz="1550" spc="-9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30" dirty="0">
                <a:solidFill>
                  <a:srgbClr val="49495A"/>
                </a:solidFill>
                <a:latin typeface="Tahoma"/>
                <a:cs typeface="Tahoma"/>
              </a:rPr>
              <a:t>a  </a:t>
            </a:r>
            <a:r>
              <a:rPr sz="1550" spc="60" dirty="0">
                <a:solidFill>
                  <a:srgbClr val="49495A"/>
                </a:solidFill>
                <a:latin typeface="Tahoma"/>
                <a:cs typeface="Tahoma"/>
              </a:rPr>
              <a:t>portfolio</a:t>
            </a:r>
            <a:r>
              <a:rPr sz="1550" spc="-9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of</a:t>
            </a:r>
            <a:r>
              <a:rPr sz="1550" spc="-9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10" dirty="0">
                <a:solidFill>
                  <a:srgbClr val="49495A"/>
                </a:solidFill>
                <a:latin typeface="Tahoma"/>
                <a:cs typeface="Tahoma"/>
              </a:rPr>
              <a:t>14.2</a:t>
            </a:r>
            <a:r>
              <a:rPr sz="1550" spc="-8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10" dirty="0">
                <a:solidFill>
                  <a:srgbClr val="49495A"/>
                </a:solidFill>
                <a:latin typeface="Tahoma"/>
                <a:cs typeface="Tahoma"/>
              </a:rPr>
              <a:t>GW,</a:t>
            </a:r>
            <a:r>
              <a:rPr sz="1550" spc="-10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aiming </a:t>
            </a:r>
            <a:r>
              <a:rPr sz="1550" spc="-47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9495A"/>
                </a:solidFill>
                <a:latin typeface="Tahoma"/>
                <a:cs typeface="Tahoma"/>
              </a:rPr>
              <a:t>for</a:t>
            </a:r>
            <a:r>
              <a:rPr sz="1550" spc="-8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50</a:t>
            </a:r>
            <a:r>
              <a:rPr sz="1550" spc="-8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GW</a:t>
            </a:r>
            <a:r>
              <a:rPr sz="1550" spc="-10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45" dirty="0">
                <a:solidFill>
                  <a:srgbClr val="49495A"/>
                </a:solidFill>
                <a:latin typeface="Tahoma"/>
                <a:cs typeface="Tahoma"/>
              </a:rPr>
              <a:t>by</a:t>
            </a:r>
            <a:r>
              <a:rPr sz="1550" spc="-8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30" dirty="0">
                <a:solidFill>
                  <a:srgbClr val="49495A"/>
                </a:solidFill>
                <a:latin typeface="Tahoma"/>
                <a:cs typeface="Tahoma"/>
              </a:rPr>
              <a:t>2030.</a:t>
            </a:r>
            <a:r>
              <a:rPr sz="1550" u="sng" spc="3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6"/>
              </a:rPr>
              <a:t>Reuters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38897" y="1467738"/>
            <a:ext cx="3125597" cy="193166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426832" y="3622675"/>
            <a:ext cx="3050540" cy="1061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40" dirty="0">
                <a:solidFill>
                  <a:srgbClr val="49495A"/>
                </a:solidFill>
                <a:latin typeface="Book Antiqua"/>
                <a:cs typeface="Book Antiqua"/>
              </a:rPr>
              <a:t>Power</a:t>
            </a:r>
            <a:r>
              <a:rPr sz="1900" spc="40" dirty="0">
                <a:solidFill>
                  <a:srgbClr val="49495A"/>
                </a:solidFill>
                <a:latin typeface="Book Antiqua"/>
                <a:cs typeface="Book Antiqua"/>
              </a:rPr>
              <a:t> </a:t>
            </a:r>
            <a:r>
              <a:rPr sz="1900" spc="135" dirty="0">
                <a:solidFill>
                  <a:srgbClr val="49495A"/>
                </a:solidFill>
                <a:latin typeface="Book Antiqua"/>
                <a:cs typeface="Book Antiqua"/>
              </a:rPr>
              <a:t>Grid</a:t>
            </a:r>
            <a:endParaRPr sz="1900">
              <a:latin typeface="Book Antiqua"/>
              <a:cs typeface="Book Antiqua"/>
            </a:endParaRPr>
          </a:p>
          <a:p>
            <a:pPr marL="12700" marR="5080">
              <a:lnSpc>
                <a:spcPct val="134800"/>
              </a:lnSpc>
              <a:spcBef>
                <a:spcPts val="865"/>
              </a:spcBef>
            </a:pP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Largest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transmission </a:t>
            </a:r>
            <a:r>
              <a:rPr sz="1550" spc="-5" dirty="0">
                <a:solidFill>
                  <a:srgbClr val="49495A"/>
                </a:solidFill>
                <a:latin typeface="Tahoma"/>
                <a:cs typeface="Tahoma"/>
              </a:rPr>
              <a:t>co., </a:t>
            </a:r>
            <a:r>
              <a:rPr sz="1550" spc="45" dirty="0">
                <a:solidFill>
                  <a:srgbClr val="49495A"/>
                </a:solidFill>
                <a:latin typeface="Tahoma"/>
                <a:cs typeface="Tahoma"/>
              </a:rPr>
              <a:t>stable 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revenue,</a:t>
            </a:r>
            <a:r>
              <a:rPr sz="1550" spc="-5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renewables</a:t>
            </a:r>
            <a:r>
              <a:rPr sz="1550" spc="-5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integration.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26832" y="4773625"/>
            <a:ext cx="2807970" cy="2249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34400"/>
              </a:lnSpc>
              <a:spcBef>
                <a:spcPts val="105"/>
              </a:spcBef>
              <a:buFont typeface="Tahoma"/>
              <a:buChar char="•"/>
              <a:tabLst>
                <a:tab pos="354965" algn="l"/>
                <a:tab pos="355600" algn="l"/>
              </a:tabLst>
            </a:pPr>
            <a:r>
              <a:rPr sz="1550" b="1" dirty="0">
                <a:solidFill>
                  <a:srgbClr val="49495A"/>
                </a:solidFill>
                <a:latin typeface="Trebuchet MS"/>
                <a:cs typeface="Trebuchet MS"/>
              </a:rPr>
              <a:t>Renewable </a:t>
            </a:r>
            <a:r>
              <a:rPr sz="1550" b="1" spc="-15" dirty="0">
                <a:solidFill>
                  <a:srgbClr val="49495A"/>
                </a:solidFill>
                <a:latin typeface="Trebuchet MS"/>
                <a:cs typeface="Trebuchet MS"/>
              </a:rPr>
              <a:t>Integration: </a:t>
            </a:r>
            <a:r>
              <a:rPr sz="1550" b="1" spc="-1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Expanding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its </a:t>
            </a:r>
            <a:r>
              <a:rPr sz="1550" spc="60" dirty="0">
                <a:solidFill>
                  <a:srgbClr val="49495A"/>
                </a:solidFill>
                <a:latin typeface="Tahoma"/>
                <a:cs typeface="Tahoma"/>
              </a:rPr>
              <a:t>role in </a:t>
            </a:r>
            <a:r>
              <a:rPr sz="1550" spc="6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renewable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energy </a:t>
            </a:r>
            <a:r>
              <a:rPr sz="1550" spc="4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45" dirty="0">
                <a:solidFill>
                  <a:srgbClr val="49495A"/>
                </a:solidFill>
                <a:latin typeface="Tahoma"/>
                <a:cs typeface="Tahoma"/>
              </a:rPr>
              <a:t>transmission.</a:t>
            </a:r>
            <a:r>
              <a:rPr sz="1550" spc="45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7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Dhan </a:t>
            </a:r>
            <a:r>
              <a:rPr sz="1550" spc="75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7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Blo</a:t>
            </a:r>
            <a:r>
              <a:rPr sz="1550" u="sng" spc="-5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g+2</a:t>
            </a:r>
            <a:r>
              <a:rPr sz="1550" u="sng" spc="-4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5</a:t>
            </a:r>
            <a:r>
              <a:rPr sz="1550" u="sng" spc="7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pa</a:t>
            </a:r>
            <a:r>
              <a:rPr sz="1550" u="sng" spc="3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is</a:t>
            </a:r>
            <a:r>
              <a:rPr sz="1550" u="sng" spc="-8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a</a:t>
            </a:r>
            <a:r>
              <a:rPr sz="1550" u="sng" spc="-11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+</a:t>
            </a:r>
            <a:r>
              <a:rPr sz="1550" u="sng" spc="4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2</a:t>
            </a:r>
            <a:r>
              <a:rPr sz="1550" u="sng" spc="5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A</a:t>
            </a:r>
            <a:r>
              <a:rPr sz="1550" u="sng" spc="6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ppreci</a:t>
            </a:r>
            <a:r>
              <a:rPr sz="1550" u="sng" spc="4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ate </a:t>
            </a:r>
            <a:r>
              <a:rPr sz="1550" spc="30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3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8"/>
              </a:rPr>
              <a:t>Trading App+2</a:t>
            </a:r>
            <a:r>
              <a:rPr sz="1550" u="sng" spc="3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Appreciate </a:t>
            </a:r>
            <a:r>
              <a:rPr sz="1550" spc="40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3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Trading</a:t>
            </a:r>
            <a:r>
              <a:rPr sz="1550" u="sng" spc="-10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550" u="sng" spc="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App+15paisa+1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11891" y="1467611"/>
            <a:ext cx="3125724" cy="193179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800333" y="3622675"/>
            <a:ext cx="291274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220" dirty="0">
                <a:solidFill>
                  <a:srgbClr val="49495A"/>
                </a:solidFill>
                <a:latin typeface="Book Antiqua"/>
                <a:cs typeface="Book Antiqua"/>
              </a:rPr>
              <a:t>JSW</a:t>
            </a:r>
            <a:r>
              <a:rPr sz="1900" spc="50" dirty="0">
                <a:solidFill>
                  <a:srgbClr val="49495A"/>
                </a:solidFill>
                <a:latin typeface="Book Antiqua"/>
                <a:cs typeface="Book Antiqua"/>
              </a:rPr>
              <a:t> </a:t>
            </a:r>
            <a:r>
              <a:rPr sz="1900" spc="160" dirty="0">
                <a:solidFill>
                  <a:srgbClr val="49495A"/>
                </a:solidFill>
                <a:latin typeface="Book Antiqua"/>
                <a:cs typeface="Book Antiqua"/>
              </a:rPr>
              <a:t>Energy</a:t>
            </a:r>
            <a:endParaRPr sz="1900">
              <a:latin typeface="Book Antiqua"/>
              <a:cs typeface="Book Antiqua"/>
            </a:endParaRPr>
          </a:p>
          <a:p>
            <a:pPr marL="12700" marR="5080">
              <a:lnSpc>
                <a:spcPct val="135000"/>
              </a:lnSpc>
              <a:spcBef>
                <a:spcPts val="860"/>
              </a:spcBef>
            </a:pPr>
            <a:r>
              <a:rPr sz="1550" spc="45" dirty="0">
                <a:solidFill>
                  <a:srgbClr val="49495A"/>
                </a:solidFill>
                <a:latin typeface="Tahoma"/>
                <a:cs typeface="Tahoma"/>
              </a:rPr>
              <a:t>Diversified</a:t>
            </a:r>
            <a:r>
              <a:rPr sz="1550" spc="-9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portfolio,</a:t>
            </a:r>
            <a:r>
              <a:rPr sz="1550" spc="-114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20" dirty="0">
                <a:solidFill>
                  <a:srgbClr val="49495A"/>
                </a:solidFill>
                <a:latin typeface="Times New Roman"/>
                <a:cs typeface="Times New Roman"/>
              </a:rPr>
              <a:t>₹</a:t>
            </a:r>
            <a:r>
              <a:rPr sz="1550" spc="20" dirty="0">
                <a:solidFill>
                  <a:srgbClr val="49495A"/>
                </a:solidFill>
                <a:latin typeface="Tahoma"/>
                <a:cs typeface="Tahoma"/>
              </a:rPr>
              <a:t>976.55</a:t>
            </a:r>
            <a:r>
              <a:rPr sz="1550" spc="-11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Cr </a:t>
            </a:r>
            <a:r>
              <a:rPr sz="1550" spc="-47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revenue,</a:t>
            </a:r>
            <a:r>
              <a:rPr sz="1550" spc="-5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20" dirty="0">
                <a:solidFill>
                  <a:srgbClr val="49495A"/>
                </a:solidFill>
                <a:latin typeface="Times New Roman"/>
                <a:cs typeface="Times New Roman"/>
              </a:rPr>
              <a:t>₹</a:t>
            </a:r>
            <a:r>
              <a:rPr sz="1550" spc="20" dirty="0">
                <a:solidFill>
                  <a:srgbClr val="49495A"/>
                </a:solidFill>
                <a:latin typeface="Tahoma"/>
                <a:cs typeface="Tahoma"/>
              </a:rPr>
              <a:t>217.19</a:t>
            </a:r>
            <a:r>
              <a:rPr sz="1550" spc="-8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Cr</a:t>
            </a:r>
            <a:r>
              <a:rPr sz="1550" spc="-9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net</a:t>
            </a:r>
            <a:r>
              <a:rPr sz="1550" spc="-7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35" dirty="0">
                <a:solidFill>
                  <a:srgbClr val="49495A"/>
                </a:solidFill>
                <a:latin typeface="Tahoma"/>
                <a:cs typeface="Tahoma"/>
              </a:rPr>
              <a:t>profit.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00333" y="4772998"/>
            <a:ext cx="3088005" cy="256921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50"/>
              </a:spcBef>
              <a:buFont typeface="Tahoma"/>
              <a:buChar char="•"/>
              <a:tabLst>
                <a:tab pos="354965" algn="l"/>
                <a:tab pos="355600" algn="l"/>
              </a:tabLst>
            </a:pPr>
            <a:r>
              <a:rPr sz="1550" b="1" spc="-95" dirty="0">
                <a:solidFill>
                  <a:srgbClr val="49495A"/>
                </a:solidFill>
                <a:latin typeface="Trebuchet MS"/>
                <a:cs typeface="Trebuchet MS"/>
              </a:rPr>
              <a:t>F</a:t>
            </a:r>
            <a:r>
              <a:rPr sz="1550" b="1" spc="-65" dirty="0">
                <a:solidFill>
                  <a:srgbClr val="49495A"/>
                </a:solidFill>
                <a:latin typeface="Trebuchet MS"/>
                <a:cs typeface="Trebuchet MS"/>
              </a:rPr>
              <a:t>i</a:t>
            </a:r>
            <a:r>
              <a:rPr sz="1550" b="1" spc="-10" dirty="0">
                <a:solidFill>
                  <a:srgbClr val="49495A"/>
                </a:solidFill>
                <a:latin typeface="Trebuchet MS"/>
                <a:cs typeface="Trebuchet MS"/>
              </a:rPr>
              <a:t>nanc</a:t>
            </a:r>
            <a:r>
              <a:rPr sz="1550" b="1" spc="-15" dirty="0">
                <a:solidFill>
                  <a:srgbClr val="49495A"/>
                </a:solidFill>
                <a:latin typeface="Trebuchet MS"/>
                <a:cs typeface="Trebuchet MS"/>
              </a:rPr>
              <a:t>i</a:t>
            </a:r>
            <a:r>
              <a:rPr sz="1550" b="1" spc="-20" dirty="0">
                <a:solidFill>
                  <a:srgbClr val="49495A"/>
                </a:solidFill>
                <a:latin typeface="Trebuchet MS"/>
                <a:cs typeface="Trebuchet MS"/>
              </a:rPr>
              <a:t>al</a:t>
            </a:r>
            <a:r>
              <a:rPr sz="1550" b="1" spc="-114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550" b="1" spc="30" dirty="0">
                <a:solidFill>
                  <a:srgbClr val="49495A"/>
                </a:solidFill>
                <a:latin typeface="Trebuchet MS"/>
                <a:cs typeface="Trebuchet MS"/>
              </a:rPr>
              <a:t>P</a:t>
            </a:r>
            <a:r>
              <a:rPr sz="1550" b="1" spc="-25" dirty="0">
                <a:solidFill>
                  <a:srgbClr val="49495A"/>
                </a:solidFill>
                <a:latin typeface="Trebuchet MS"/>
                <a:cs typeface="Trebuchet MS"/>
              </a:rPr>
              <a:t>e</a:t>
            </a:r>
            <a:r>
              <a:rPr sz="1550" b="1" spc="-20" dirty="0">
                <a:solidFill>
                  <a:srgbClr val="49495A"/>
                </a:solidFill>
                <a:latin typeface="Trebuchet MS"/>
                <a:cs typeface="Trebuchet MS"/>
              </a:rPr>
              <a:t>r</a:t>
            </a:r>
            <a:r>
              <a:rPr sz="1550" b="1" spc="-50" dirty="0">
                <a:solidFill>
                  <a:srgbClr val="49495A"/>
                </a:solidFill>
                <a:latin typeface="Trebuchet MS"/>
                <a:cs typeface="Trebuchet MS"/>
              </a:rPr>
              <a:t>f</a:t>
            </a:r>
            <a:r>
              <a:rPr sz="1550" b="1" spc="65" dirty="0">
                <a:solidFill>
                  <a:srgbClr val="49495A"/>
                </a:solidFill>
                <a:latin typeface="Trebuchet MS"/>
                <a:cs typeface="Trebuchet MS"/>
              </a:rPr>
              <a:t>o</a:t>
            </a:r>
            <a:r>
              <a:rPr sz="1550" b="1" spc="-20" dirty="0">
                <a:solidFill>
                  <a:srgbClr val="49495A"/>
                </a:solidFill>
                <a:latin typeface="Trebuchet MS"/>
                <a:cs typeface="Trebuchet MS"/>
              </a:rPr>
              <a:t>r</a:t>
            </a:r>
            <a:r>
              <a:rPr sz="1550" b="1" spc="90" dirty="0">
                <a:solidFill>
                  <a:srgbClr val="49495A"/>
                </a:solidFill>
                <a:latin typeface="Trebuchet MS"/>
                <a:cs typeface="Trebuchet MS"/>
              </a:rPr>
              <a:t>m</a:t>
            </a:r>
            <a:r>
              <a:rPr sz="1550" b="1" dirty="0">
                <a:solidFill>
                  <a:srgbClr val="49495A"/>
                </a:solidFill>
                <a:latin typeface="Trebuchet MS"/>
                <a:cs typeface="Trebuchet MS"/>
              </a:rPr>
              <a:t>anc</a:t>
            </a:r>
            <a:r>
              <a:rPr sz="1550" b="1" spc="5" dirty="0">
                <a:solidFill>
                  <a:srgbClr val="49495A"/>
                </a:solidFill>
                <a:latin typeface="Trebuchet MS"/>
                <a:cs typeface="Trebuchet MS"/>
              </a:rPr>
              <a:t>e</a:t>
            </a:r>
            <a:r>
              <a:rPr sz="1550" b="1" spc="-165" dirty="0">
                <a:solidFill>
                  <a:srgbClr val="49495A"/>
                </a:solidFill>
                <a:latin typeface="Trebuchet MS"/>
                <a:cs typeface="Trebuchet MS"/>
              </a:rPr>
              <a:t>:</a:t>
            </a:r>
            <a:endParaRPr sz="155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650"/>
              </a:spcBef>
            </a:pP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Reported</a:t>
            </a:r>
            <a:r>
              <a:rPr sz="1550" spc="-7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45" dirty="0">
                <a:solidFill>
                  <a:srgbClr val="49495A"/>
                </a:solidFill>
                <a:latin typeface="Tahoma"/>
                <a:cs typeface="Tahoma"/>
              </a:rPr>
              <a:t>a</a:t>
            </a:r>
            <a:r>
              <a:rPr sz="1550" spc="-9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revenue</a:t>
            </a:r>
            <a:r>
              <a:rPr sz="1550" spc="-6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of</a:t>
            </a:r>
            <a:endParaRPr sz="1550">
              <a:latin typeface="Tahoma"/>
              <a:cs typeface="Tahoma"/>
            </a:endParaRPr>
          </a:p>
          <a:p>
            <a:pPr marL="355600" marR="5080">
              <a:lnSpc>
                <a:spcPct val="134200"/>
              </a:lnSpc>
            </a:pPr>
            <a:r>
              <a:rPr sz="1550" spc="20" dirty="0">
                <a:solidFill>
                  <a:srgbClr val="49495A"/>
                </a:solidFill>
                <a:latin typeface="Times New Roman"/>
                <a:cs typeface="Times New Roman"/>
              </a:rPr>
              <a:t>₹</a:t>
            </a:r>
            <a:r>
              <a:rPr sz="1550" spc="20" dirty="0">
                <a:solidFill>
                  <a:srgbClr val="49495A"/>
                </a:solidFill>
                <a:latin typeface="Tahoma"/>
                <a:cs typeface="Tahoma"/>
              </a:rPr>
              <a:t>976.55</a:t>
            </a:r>
            <a:r>
              <a:rPr sz="1550" spc="-10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9495A"/>
                </a:solidFill>
                <a:latin typeface="Tahoma"/>
                <a:cs typeface="Tahoma"/>
              </a:rPr>
              <a:t>crore</a:t>
            </a:r>
            <a:r>
              <a:rPr sz="1550" spc="-9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70" dirty="0">
                <a:solidFill>
                  <a:srgbClr val="49495A"/>
                </a:solidFill>
                <a:latin typeface="Tahoma"/>
                <a:cs typeface="Tahoma"/>
              </a:rPr>
              <a:t>and</a:t>
            </a:r>
            <a:r>
              <a:rPr sz="1550" spc="-9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45" dirty="0">
                <a:solidFill>
                  <a:srgbClr val="49495A"/>
                </a:solidFill>
                <a:latin typeface="Tahoma"/>
                <a:cs typeface="Tahoma"/>
              </a:rPr>
              <a:t>a</a:t>
            </a:r>
            <a:r>
              <a:rPr sz="1550" spc="-9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49495A"/>
                </a:solidFill>
                <a:latin typeface="Tahoma"/>
                <a:cs typeface="Tahoma"/>
              </a:rPr>
              <a:t>net</a:t>
            </a:r>
            <a:r>
              <a:rPr sz="1550" spc="-9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profit </a:t>
            </a:r>
            <a:r>
              <a:rPr sz="1550" spc="-47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9495A"/>
                </a:solidFill>
                <a:latin typeface="Tahoma"/>
                <a:cs typeface="Tahoma"/>
              </a:rPr>
              <a:t>of</a:t>
            </a:r>
            <a:r>
              <a:rPr sz="1550" spc="-9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20" dirty="0">
                <a:solidFill>
                  <a:srgbClr val="49495A"/>
                </a:solidFill>
                <a:latin typeface="Times New Roman"/>
                <a:cs typeface="Times New Roman"/>
              </a:rPr>
              <a:t>₹</a:t>
            </a:r>
            <a:r>
              <a:rPr sz="1550" spc="20" dirty="0">
                <a:solidFill>
                  <a:srgbClr val="49495A"/>
                </a:solidFill>
                <a:latin typeface="Tahoma"/>
                <a:cs typeface="Tahoma"/>
              </a:rPr>
              <a:t>217.19</a:t>
            </a:r>
            <a:r>
              <a:rPr sz="1550" spc="-9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9495A"/>
                </a:solidFill>
                <a:latin typeface="Tahoma"/>
                <a:cs typeface="Tahoma"/>
              </a:rPr>
              <a:t>crore</a:t>
            </a:r>
            <a:r>
              <a:rPr sz="1550" spc="-10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9495A"/>
                </a:solidFill>
                <a:latin typeface="Tahoma"/>
                <a:cs typeface="Tahoma"/>
              </a:rPr>
              <a:t>in</a:t>
            </a:r>
            <a:r>
              <a:rPr sz="1550" spc="-10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550" spc="65" dirty="0">
                <a:solidFill>
                  <a:srgbClr val="49495A"/>
                </a:solidFill>
                <a:latin typeface="Tahoma"/>
                <a:cs typeface="Tahoma"/>
              </a:rPr>
              <a:t>December</a:t>
            </a:r>
            <a:endParaRPr sz="1550">
              <a:latin typeface="Tahoma"/>
              <a:cs typeface="Tahoma"/>
            </a:endParaRPr>
          </a:p>
          <a:p>
            <a:pPr marL="355600" marR="170815">
              <a:lnSpc>
                <a:spcPct val="134500"/>
              </a:lnSpc>
              <a:spcBef>
                <a:spcPts val="10"/>
              </a:spcBef>
            </a:pPr>
            <a:r>
              <a:rPr sz="1550" spc="15" dirty="0">
                <a:solidFill>
                  <a:srgbClr val="49495A"/>
                </a:solidFill>
                <a:latin typeface="Tahoma"/>
                <a:cs typeface="Tahoma"/>
              </a:rPr>
              <a:t>2024. </a:t>
            </a:r>
            <a:r>
              <a:rPr sz="1550" u="sng" spc="5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Appreciate </a:t>
            </a:r>
            <a:r>
              <a:rPr sz="1550" u="sng" spc="3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Trading </a:t>
            </a:r>
            <a:r>
              <a:rPr sz="1550" spc="40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4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A</a:t>
            </a:r>
            <a:r>
              <a:rPr sz="1550" u="sng" spc="-1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pp+1</a:t>
            </a:r>
            <a:r>
              <a:rPr sz="1550" u="sng" spc="9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Up</a:t>
            </a:r>
            <a:r>
              <a:rPr sz="1550" u="sng" spc="5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s</a:t>
            </a:r>
            <a:r>
              <a:rPr sz="1550" u="sng" spc="4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t</a:t>
            </a:r>
            <a:r>
              <a:rPr sz="1550" u="sng" spc="7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o</a:t>
            </a:r>
            <a:r>
              <a:rPr sz="1550" u="sng" spc="4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x</a:t>
            </a:r>
            <a:r>
              <a:rPr sz="1550" u="sng" spc="-8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550" u="sng" spc="-6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-</a:t>
            </a:r>
            <a:r>
              <a:rPr sz="1550" u="sng" spc="-8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550" u="sng" spc="10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O</a:t>
            </a:r>
            <a:r>
              <a:rPr sz="1550" u="sng" spc="7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n</a:t>
            </a:r>
            <a:r>
              <a:rPr sz="1550" u="sng" spc="3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li</a:t>
            </a:r>
            <a:r>
              <a:rPr sz="1550" u="sng" spc="8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n</a:t>
            </a:r>
            <a:r>
              <a:rPr sz="1550" u="sng" spc="5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e</a:t>
            </a:r>
            <a:r>
              <a:rPr sz="1550" u="sng" spc="-9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550" u="sng" spc="2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St</a:t>
            </a:r>
            <a:r>
              <a:rPr sz="1550" u="sng" spc="4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o</a:t>
            </a:r>
            <a:r>
              <a:rPr sz="1550" u="sng" spc="2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ck </a:t>
            </a:r>
            <a:r>
              <a:rPr sz="1550" spc="20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7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and </a:t>
            </a:r>
            <a:r>
              <a:rPr sz="1550" u="sng" spc="4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Share </a:t>
            </a:r>
            <a:r>
              <a:rPr sz="1550" u="sng" spc="2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9"/>
              </a:rPr>
              <a:t>Trading+1</a:t>
            </a:r>
            <a:r>
              <a:rPr sz="1550" u="sng" spc="2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Dhan </a:t>
            </a:r>
            <a:r>
              <a:rPr sz="1550" spc="30" dirty="0">
                <a:solidFill>
                  <a:srgbClr val="403CCF"/>
                </a:solidFill>
                <a:latin typeface="Tahoma"/>
                <a:cs typeface="Tahoma"/>
              </a:rPr>
              <a:t> </a:t>
            </a:r>
            <a:r>
              <a:rPr sz="1550" u="sng" spc="4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4"/>
              </a:rPr>
              <a:t>Blog</a:t>
            </a:r>
            <a:r>
              <a:rPr sz="1550" u="sng" spc="4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11"/>
              </a:rPr>
              <a:t>Angel</a:t>
            </a:r>
            <a:r>
              <a:rPr sz="1550" u="sng" spc="-10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550" u="sng" spc="8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ahoma"/>
                <a:cs typeface="Tahoma"/>
                <a:hlinkClick r:id="rId11"/>
              </a:rPr>
              <a:t>One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524" y="361568"/>
            <a:ext cx="78149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00" dirty="0"/>
              <a:t>Financial</a:t>
            </a:r>
            <a:r>
              <a:rPr sz="2800" spc="85" dirty="0"/>
              <a:t> </a:t>
            </a:r>
            <a:r>
              <a:rPr sz="2800" spc="215" dirty="0"/>
              <a:t>Metrics</a:t>
            </a:r>
            <a:r>
              <a:rPr sz="2800" spc="114" dirty="0"/>
              <a:t> </a:t>
            </a:r>
            <a:r>
              <a:rPr sz="2800" spc="200" dirty="0"/>
              <a:t>Overview</a:t>
            </a:r>
            <a:r>
              <a:rPr sz="2800" spc="114" dirty="0"/>
              <a:t> </a:t>
            </a:r>
            <a:r>
              <a:rPr sz="2800" spc="275" dirty="0"/>
              <a:t>&amp;</a:t>
            </a:r>
            <a:r>
              <a:rPr sz="2800" spc="100" dirty="0"/>
              <a:t> </a:t>
            </a:r>
            <a:r>
              <a:rPr sz="2800" spc="245" dirty="0"/>
              <a:t>Comparison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490524" y="1151889"/>
            <a:ext cx="11549076" cy="98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Verdana"/>
              <a:buChar char="•"/>
              <a:tabLst>
                <a:tab pos="354965" algn="l"/>
                <a:tab pos="355600" algn="l"/>
              </a:tabLst>
            </a:pPr>
            <a:r>
              <a:rPr sz="1600" u="sng" spc="1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Adani</a:t>
            </a:r>
            <a:r>
              <a:rPr sz="1600" u="sng" spc="-8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1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leads</a:t>
            </a:r>
            <a:r>
              <a:rPr sz="1600" u="sng" spc="-7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1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in</a:t>
            </a:r>
            <a:r>
              <a:rPr sz="1600" u="sng" spc="-6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3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ROE</a:t>
            </a:r>
            <a:r>
              <a:rPr sz="1600" u="sng" spc="-7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1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at</a:t>
            </a:r>
            <a:r>
              <a:rPr sz="1600" u="sng" spc="-7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2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22.4%,</a:t>
            </a:r>
            <a:r>
              <a:rPr sz="1600" u="sng" spc="-7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2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reflecting</a:t>
            </a:r>
            <a:r>
              <a:rPr sz="1600" u="sng" spc="-7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1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strong</a:t>
            </a:r>
            <a:r>
              <a:rPr sz="1600" u="sng" spc="-7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3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profitability.</a:t>
            </a:r>
            <a:endParaRPr sz="16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890"/>
              </a:spcBef>
              <a:buFont typeface="Verdana"/>
              <a:buChar char="•"/>
              <a:tabLst>
                <a:tab pos="354965" algn="l"/>
                <a:tab pos="355600" algn="l"/>
              </a:tabLst>
            </a:pPr>
            <a:r>
              <a:rPr sz="1600" u="sng" spc="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Power</a:t>
            </a:r>
            <a:r>
              <a:rPr sz="1600" u="sng" spc="-7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1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Grid</a:t>
            </a:r>
            <a:r>
              <a:rPr sz="1600" u="sng" spc="-8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maintains</a:t>
            </a:r>
            <a:r>
              <a:rPr sz="1600" u="sng" spc="-7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lowest</a:t>
            </a:r>
            <a:r>
              <a:rPr sz="1600" u="sng" spc="-8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debt</a:t>
            </a:r>
            <a:r>
              <a:rPr sz="1600" u="sng" spc="-7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1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ratio</a:t>
            </a:r>
            <a:r>
              <a:rPr sz="1600" u="sng" spc="-6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1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at</a:t>
            </a:r>
            <a:r>
              <a:rPr sz="1600" u="sng" spc="-6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1.1,</a:t>
            </a:r>
            <a:r>
              <a:rPr sz="1600" u="sng" spc="-7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1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indicating</a:t>
            </a:r>
            <a:r>
              <a:rPr sz="1600" u="sng" spc="-8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1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financial</a:t>
            </a:r>
            <a:r>
              <a:rPr sz="1600" u="sng" spc="-8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3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stability.</a:t>
            </a:r>
            <a:endParaRPr sz="16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Verdana"/>
              <a:buChar char="•"/>
              <a:tabLst>
                <a:tab pos="354965" algn="l"/>
                <a:tab pos="355600" algn="l"/>
              </a:tabLst>
            </a:pPr>
            <a:r>
              <a:rPr sz="1600" u="sng" spc="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Power</a:t>
            </a:r>
            <a:r>
              <a:rPr sz="1600" u="sng" spc="-7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1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Grid</a:t>
            </a:r>
            <a:r>
              <a:rPr sz="1600" u="sng" spc="-8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2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also</a:t>
            </a:r>
            <a:r>
              <a:rPr sz="1600" u="sng" spc="-8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1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ranks</a:t>
            </a:r>
            <a:r>
              <a:rPr sz="1600" u="sng" spc="-9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highest</a:t>
            </a:r>
            <a:r>
              <a:rPr sz="1600" u="sng" spc="-8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1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in</a:t>
            </a:r>
            <a:r>
              <a:rPr sz="1600" u="sng" spc="-6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1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EBITDA</a:t>
            </a:r>
            <a:r>
              <a:rPr sz="1600" u="sng" spc="-8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2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margin</a:t>
            </a:r>
            <a:r>
              <a:rPr sz="1600" u="sng" spc="-8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at</a:t>
            </a:r>
            <a:r>
              <a:rPr sz="1600" u="sng" spc="-4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2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42.3%,</a:t>
            </a:r>
            <a:r>
              <a:rPr sz="1600" u="sng" spc="-7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1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showing</a:t>
            </a:r>
            <a:r>
              <a:rPr sz="1600" u="sng" spc="-8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operational</a:t>
            </a:r>
            <a:r>
              <a:rPr sz="1600" u="sng" spc="-80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sng" spc="-15" dirty="0">
                <a:solidFill>
                  <a:srgbClr val="49495A"/>
                </a:solidFill>
                <a:uFill>
                  <a:solidFill>
                    <a:srgbClr val="49495A"/>
                  </a:solidFill>
                </a:uFill>
                <a:latin typeface="Trebuchet MS"/>
                <a:cs typeface="Trebuchet MS"/>
              </a:rPr>
              <a:t>strength.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26745" y="7740650"/>
            <a:ext cx="1244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5" dirty="0">
                <a:latin typeface="Calibri"/>
                <a:cs typeface="Calibri"/>
                <a:hlinkClick r:id="rId2"/>
              </a:rPr>
              <a:t>preencoded.png</a:t>
            </a:r>
            <a:endParaRPr sz="100">
              <a:latin typeface="Calibri"/>
              <a:cs typeface="Calibri"/>
            </a:endParaRPr>
          </a:p>
        </p:txBody>
      </p:sp>
      <p:grpSp>
        <p:nvGrpSpPr>
          <p:cNvPr id="10" name="object 2">
            <a:extLst>
              <a:ext uri="{FF2B5EF4-FFF2-40B4-BE49-F238E27FC236}">
                <a16:creationId xmlns:a16="http://schemas.microsoft.com/office/drawing/2014/main" id="{E79414C6-AC39-6D0E-4931-D22CF01451DF}"/>
              </a:ext>
            </a:extLst>
          </p:cNvPr>
          <p:cNvGrpSpPr/>
          <p:nvPr/>
        </p:nvGrpSpPr>
        <p:grpSpPr>
          <a:xfrm>
            <a:off x="320395" y="2484996"/>
            <a:ext cx="14241780" cy="5676265"/>
            <a:chOff x="320395" y="2484996"/>
            <a:chExt cx="14241780" cy="5676265"/>
          </a:xfrm>
        </p:grpSpPr>
        <p:pic>
          <p:nvPicPr>
            <p:cNvPr id="11" name="object 3">
              <a:extLst>
                <a:ext uri="{FF2B5EF4-FFF2-40B4-BE49-F238E27FC236}">
                  <a16:creationId xmlns:a16="http://schemas.microsoft.com/office/drawing/2014/main" id="{77131FE3-9746-4064-7AB3-F5A9F39A18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395" y="2484996"/>
              <a:ext cx="13623798" cy="5271262"/>
            </a:xfrm>
            <a:prstGeom prst="rect">
              <a:avLst/>
            </a:prstGeom>
          </p:spPr>
        </p:pic>
        <p:pic>
          <p:nvPicPr>
            <p:cNvPr id="12" name="object 4">
              <a:extLst>
                <a:ext uri="{FF2B5EF4-FFF2-40B4-BE49-F238E27FC236}">
                  <a16:creationId xmlns:a16="http://schemas.microsoft.com/office/drawing/2014/main" id="{B4DFD249-890D-1B54-22AF-926D58F84DF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8909" y="6841998"/>
              <a:ext cx="167640" cy="22151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560172B-E8BA-2321-3F69-3DBE2E2080D4}"/>
              </a:ext>
            </a:extLst>
          </p:cNvPr>
          <p:cNvSpPr txBox="1"/>
          <p:nvPr/>
        </p:nvSpPr>
        <p:spPr>
          <a:xfrm>
            <a:off x="3446119" y="6768088"/>
            <a:ext cx="737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solidFill>
                  <a:srgbClr val="49495A"/>
                </a:solidFill>
                <a:latin typeface="Tahoma"/>
                <a:cs typeface="Tahoma"/>
              </a:rPr>
              <a:t>ROE</a:t>
            </a:r>
            <a:r>
              <a:rPr lang="en-IN" sz="1800" spc="-1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lang="en-IN" sz="1800" spc="-110" dirty="0">
                <a:solidFill>
                  <a:srgbClr val="49495A"/>
                </a:solidFill>
                <a:latin typeface="Tahoma"/>
                <a:cs typeface="Tahoma"/>
              </a:rPr>
              <a:t>%</a:t>
            </a:r>
            <a:endParaRPr lang="en-IN" sz="1800" dirty="0">
              <a:latin typeface="Tahoma"/>
              <a:cs typeface="Tahoma"/>
            </a:endParaRPr>
          </a:p>
        </p:txBody>
      </p:sp>
      <p:grpSp>
        <p:nvGrpSpPr>
          <p:cNvPr id="17" name="object 8">
            <a:extLst>
              <a:ext uri="{FF2B5EF4-FFF2-40B4-BE49-F238E27FC236}">
                <a16:creationId xmlns:a16="http://schemas.microsoft.com/office/drawing/2014/main" id="{0E52B46D-3AD7-1D74-1A2A-7D5B44B37905}"/>
              </a:ext>
            </a:extLst>
          </p:cNvPr>
          <p:cNvGrpSpPr/>
          <p:nvPr/>
        </p:nvGrpSpPr>
        <p:grpSpPr>
          <a:xfrm>
            <a:off x="5634990" y="6841997"/>
            <a:ext cx="3127375" cy="221615"/>
            <a:chOff x="5634990" y="6841997"/>
            <a:chExt cx="3127375" cy="221615"/>
          </a:xfrm>
        </p:grpSpPr>
        <p:pic>
          <p:nvPicPr>
            <p:cNvPr id="18" name="object 9">
              <a:extLst>
                <a:ext uri="{FF2B5EF4-FFF2-40B4-BE49-F238E27FC236}">
                  <a16:creationId xmlns:a16="http://schemas.microsoft.com/office/drawing/2014/main" id="{143B167A-FC98-A74F-C58B-B15A59692CB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4990" y="6841997"/>
              <a:ext cx="167639" cy="221513"/>
            </a:xfrm>
            <a:prstGeom prst="rect">
              <a:avLst/>
            </a:prstGeom>
          </p:spPr>
        </p:pic>
        <p:pic>
          <p:nvPicPr>
            <p:cNvPr id="19" name="object 10">
              <a:extLst>
                <a:ext uri="{FF2B5EF4-FFF2-40B4-BE49-F238E27FC236}">
                  <a16:creationId xmlns:a16="http://schemas.microsoft.com/office/drawing/2014/main" id="{0504A8F3-19BA-A181-438D-7988ABEEC93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94598" y="6841997"/>
              <a:ext cx="167512" cy="221513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2F531E9-D8ED-5261-6171-A189D24238F4}"/>
              </a:ext>
            </a:extLst>
          </p:cNvPr>
          <p:cNvSpPr txBox="1"/>
          <p:nvPr/>
        </p:nvSpPr>
        <p:spPr>
          <a:xfrm>
            <a:off x="5802629" y="6792591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solidFill>
                  <a:srgbClr val="49495A"/>
                </a:solidFill>
                <a:latin typeface="Tahoma"/>
                <a:cs typeface="Tahoma"/>
              </a:rPr>
              <a:t>Debt-to-</a:t>
            </a:r>
            <a:r>
              <a:rPr lang="en-IN" sz="1800" spc="-10" dirty="0">
                <a:solidFill>
                  <a:srgbClr val="49495A"/>
                </a:solidFill>
                <a:latin typeface="Tahoma"/>
                <a:cs typeface="Tahoma"/>
              </a:rPr>
              <a:t>Equity</a:t>
            </a:r>
            <a:endParaRPr lang="en-IN" sz="1800" dirty="0">
              <a:latin typeface="Tahoma"/>
              <a:cs typeface="Tahom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0D4C1A-3601-8819-9BF2-5550FB3FED2B}"/>
              </a:ext>
            </a:extLst>
          </p:cNvPr>
          <p:cNvSpPr txBox="1"/>
          <p:nvPr/>
        </p:nvSpPr>
        <p:spPr>
          <a:xfrm>
            <a:off x="8762110" y="6743056"/>
            <a:ext cx="737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solidFill>
                  <a:srgbClr val="49495A"/>
                </a:solidFill>
                <a:latin typeface="Tahoma"/>
                <a:cs typeface="Tahoma"/>
              </a:rPr>
              <a:t>EBITDA</a:t>
            </a:r>
            <a:r>
              <a:rPr lang="en-IN" sz="1800" spc="5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lang="en-IN" sz="1800" dirty="0">
                <a:solidFill>
                  <a:srgbClr val="49495A"/>
                </a:solidFill>
                <a:latin typeface="Tahoma"/>
                <a:cs typeface="Tahoma"/>
              </a:rPr>
              <a:t>Margin</a:t>
            </a:r>
            <a:r>
              <a:rPr lang="en-IN" sz="1800" spc="5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lang="en-IN" sz="1800" spc="-50" dirty="0">
                <a:solidFill>
                  <a:srgbClr val="49495A"/>
                </a:solidFill>
                <a:latin typeface="Tahoma"/>
                <a:cs typeface="Tahoma"/>
              </a:rPr>
              <a:t>%</a:t>
            </a:r>
            <a:endParaRPr lang="en-IN"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531442"/>
            <a:ext cx="11018520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455" dirty="0"/>
              <a:t>Company</a:t>
            </a:r>
            <a:r>
              <a:rPr spc="135" dirty="0"/>
              <a:t> </a:t>
            </a:r>
            <a:r>
              <a:rPr spc="290" dirty="0"/>
              <a:t>Risk</a:t>
            </a:r>
            <a:r>
              <a:rPr spc="160" dirty="0"/>
              <a:t> </a:t>
            </a:r>
            <a:r>
              <a:rPr spc="310" dirty="0"/>
              <a:t>Profiles</a:t>
            </a:r>
            <a:r>
              <a:rPr spc="140" dirty="0"/>
              <a:t> </a:t>
            </a:r>
            <a:r>
              <a:rPr spc="445" dirty="0"/>
              <a:t>&amp;</a:t>
            </a:r>
            <a:r>
              <a:rPr spc="160" dirty="0"/>
              <a:t> </a:t>
            </a:r>
            <a:r>
              <a:rPr spc="405" dirty="0"/>
              <a:t>Sector</a:t>
            </a:r>
            <a:r>
              <a:rPr spc="160" dirty="0"/>
              <a:t> </a:t>
            </a:r>
            <a:r>
              <a:rPr spc="260" dirty="0"/>
              <a:t>Risks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826745" y="7740650"/>
            <a:ext cx="1244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5" dirty="0">
                <a:latin typeface="Calibri"/>
                <a:cs typeface="Calibri"/>
                <a:hlinkClick r:id="rId2"/>
              </a:rPr>
              <a:t>preencoded.png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304" y="2827781"/>
            <a:ext cx="6132830" cy="3723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15" dirty="0">
                <a:solidFill>
                  <a:srgbClr val="403CCF"/>
                </a:solidFill>
                <a:latin typeface="Book Antiqua"/>
                <a:cs typeface="Book Antiqua"/>
              </a:rPr>
              <a:t>Company</a:t>
            </a:r>
            <a:r>
              <a:rPr sz="2200" spc="80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spc="135" dirty="0">
                <a:solidFill>
                  <a:srgbClr val="403CCF"/>
                </a:solidFill>
                <a:latin typeface="Book Antiqua"/>
                <a:cs typeface="Book Antiqua"/>
              </a:rPr>
              <a:t>Risk</a:t>
            </a:r>
            <a:r>
              <a:rPr sz="2200" spc="95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spc="150" dirty="0">
                <a:solidFill>
                  <a:srgbClr val="403CCF"/>
                </a:solidFill>
                <a:latin typeface="Book Antiqua"/>
                <a:cs typeface="Book Antiqua"/>
              </a:rPr>
              <a:t>Profiles</a:t>
            </a:r>
            <a:endParaRPr sz="22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1750" spc="60" dirty="0">
                <a:solidFill>
                  <a:srgbClr val="49495A"/>
                </a:solidFill>
                <a:latin typeface="Trebuchet MS"/>
                <a:cs typeface="Trebuchet MS"/>
              </a:rPr>
              <a:t>Power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49495A"/>
                </a:solidFill>
                <a:latin typeface="Trebuchet MS"/>
                <a:cs typeface="Trebuchet MS"/>
              </a:rPr>
              <a:t>Grid: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Low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49495A"/>
                </a:solidFill>
                <a:latin typeface="Trebuchet MS"/>
                <a:cs typeface="Trebuchet MS"/>
              </a:rPr>
              <a:t>risk,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stable</a:t>
            </a:r>
            <a:r>
              <a:rPr sz="1750" spc="-7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49495A"/>
                </a:solidFill>
                <a:latin typeface="Trebuchet MS"/>
                <a:cs typeface="Trebuchet MS"/>
              </a:rPr>
              <a:t>revenue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49495A"/>
                </a:solidFill>
                <a:latin typeface="Trebuchet MS"/>
                <a:cs typeface="Trebuchet MS"/>
              </a:rPr>
              <a:t>via</a:t>
            </a:r>
            <a:r>
              <a:rPr sz="1750" spc="-6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long-term</a:t>
            </a:r>
            <a:r>
              <a:rPr sz="1750" spc="-10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85" dirty="0">
                <a:solidFill>
                  <a:srgbClr val="49495A"/>
                </a:solidFill>
                <a:latin typeface="Trebuchet MS"/>
                <a:cs typeface="Trebuchet MS"/>
              </a:rPr>
              <a:t>PPAs</a:t>
            </a:r>
            <a:endParaRPr sz="1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49495A"/>
              </a:buClr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45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-5" dirty="0">
                <a:solidFill>
                  <a:srgbClr val="49495A"/>
                </a:solidFill>
                <a:latin typeface="Trebuchet MS"/>
                <a:cs typeface="Trebuchet MS"/>
              </a:rPr>
              <a:t>Tata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49495A"/>
                </a:solidFill>
                <a:latin typeface="Trebuchet MS"/>
                <a:cs typeface="Trebuchet MS"/>
              </a:rPr>
              <a:t>Power:</a:t>
            </a:r>
            <a:r>
              <a:rPr sz="1750" spc="-10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75" dirty="0">
                <a:solidFill>
                  <a:srgbClr val="49495A"/>
                </a:solidFill>
                <a:latin typeface="Trebuchet MS"/>
                <a:cs typeface="Trebuchet MS"/>
              </a:rPr>
              <a:t>Moderate</a:t>
            </a:r>
            <a:r>
              <a:rPr sz="1750" spc="-6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49495A"/>
                </a:solidFill>
                <a:latin typeface="Trebuchet MS"/>
                <a:cs typeface="Trebuchet MS"/>
              </a:rPr>
              <a:t>risk;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49495A"/>
                </a:solidFill>
                <a:latin typeface="Trebuchet MS"/>
                <a:cs typeface="Trebuchet MS"/>
              </a:rPr>
              <a:t>diverse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49495A"/>
                </a:solidFill>
                <a:latin typeface="Trebuchet MS"/>
                <a:cs typeface="Trebuchet MS"/>
              </a:rPr>
              <a:t>portfolio,</a:t>
            </a:r>
            <a:r>
              <a:rPr sz="1750" spc="-12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49495A"/>
                </a:solidFill>
                <a:latin typeface="Trebuchet MS"/>
                <a:cs typeface="Trebuchet MS"/>
              </a:rPr>
              <a:t>partial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49495A"/>
                </a:solidFill>
                <a:latin typeface="Trebuchet MS"/>
                <a:cs typeface="Trebuchet MS"/>
              </a:rPr>
              <a:t>fuel</a:t>
            </a:r>
            <a:endParaRPr sz="1750">
              <a:latin typeface="Trebuchet MS"/>
              <a:cs typeface="Trebuchet MS"/>
            </a:endParaRPr>
          </a:p>
          <a:p>
            <a:pPr marL="354965">
              <a:lnSpc>
                <a:spcPct val="100000"/>
              </a:lnSpc>
              <a:spcBef>
                <a:spcPts val="810"/>
              </a:spcBef>
            </a:pPr>
            <a:r>
              <a:rPr sz="1750" spc="60" dirty="0">
                <a:solidFill>
                  <a:srgbClr val="49495A"/>
                </a:solidFill>
                <a:latin typeface="Trebuchet MS"/>
                <a:cs typeface="Trebuchet MS"/>
              </a:rPr>
              <a:t>hedging</a:t>
            </a:r>
            <a:endParaRPr sz="1750">
              <a:latin typeface="Trebuchet MS"/>
              <a:cs typeface="Trebuchet MS"/>
            </a:endParaRPr>
          </a:p>
          <a:p>
            <a:pPr marL="354965" marR="211454" indent="-342900">
              <a:lnSpc>
                <a:spcPct val="138400"/>
              </a:lnSpc>
              <a:spcBef>
                <a:spcPts val="52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50" dirty="0">
                <a:solidFill>
                  <a:srgbClr val="49495A"/>
                </a:solidFill>
                <a:latin typeface="Trebuchet MS"/>
                <a:cs typeface="Trebuchet MS"/>
              </a:rPr>
              <a:t>Adani</a:t>
            </a:r>
            <a:r>
              <a:rPr sz="1750" spc="-7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49495A"/>
                </a:solidFill>
                <a:latin typeface="Trebuchet MS"/>
                <a:cs typeface="Trebuchet MS"/>
              </a:rPr>
              <a:t>Power: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High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49495A"/>
                </a:solidFill>
                <a:latin typeface="Trebuchet MS"/>
                <a:cs typeface="Trebuchet MS"/>
              </a:rPr>
              <a:t>risk;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49495A"/>
                </a:solidFill>
                <a:latin typeface="Trebuchet MS"/>
                <a:cs typeface="Trebuchet MS"/>
              </a:rPr>
              <a:t>reliant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14" dirty="0">
                <a:solidFill>
                  <a:srgbClr val="49495A"/>
                </a:solidFill>
                <a:latin typeface="Trebuchet MS"/>
                <a:cs typeface="Trebuchet MS"/>
              </a:rPr>
              <a:t>on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45" dirty="0">
                <a:solidFill>
                  <a:srgbClr val="49495A"/>
                </a:solidFill>
                <a:latin typeface="Trebuchet MS"/>
                <a:cs typeface="Trebuchet MS"/>
              </a:rPr>
              <a:t>imported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49495A"/>
                </a:solidFill>
                <a:latin typeface="Trebuchet MS"/>
                <a:cs typeface="Trebuchet MS"/>
              </a:rPr>
              <a:t>coal,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49495A"/>
                </a:solidFill>
                <a:latin typeface="Trebuchet MS"/>
                <a:cs typeface="Trebuchet MS"/>
              </a:rPr>
              <a:t>price </a:t>
            </a:r>
            <a:r>
              <a:rPr sz="1750" spc="-51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sensitive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3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10" dirty="0">
                <a:solidFill>
                  <a:srgbClr val="49495A"/>
                </a:solidFill>
                <a:latin typeface="Trebuchet MS"/>
                <a:cs typeface="Trebuchet MS"/>
              </a:rPr>
              <a:t>Reliance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&amp;</a:t>
            </a:r>
            <a:r>
              <a:rPr sz="1750" spc="-6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45" dirty="0">
                <a:solidFill>
                  <a:srgbClr val="49495A"/>
                </a:solidFill>
                <a:latin typeface="Trebuchet MS"/>
                <a:cs typeface="Trebuchet MS"/>
              </a:rPr>
              <a:t>JSW</a:t>
            </a:r>
            <a:r>
              <a:rPr sz="1750" spc="-7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49495A"/>
                </a:solidFill>
                <a:latin typeface="Trebuchet MS"/>
                <a:cs typeface="Trebuchet MS"/>
              </a:rPr>
              <a:t>Energy: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49495A"/>
                </a:solidFill>
                <a:latin typeface="Trebuchet MS"/>
                <a:cs typeface="Trebuchet MS"/>
              </a:rPr>
              <a:t>Very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0" dirty="0">
                <a:solidFill>
                  <a:srgbClr val="49495A"/>
                </a:solidFill>
                <a:latin typeface="Trebuchet MS"/>
                <a:cs typeface="Trebuchet MS"/>
              </a:rPr>
              <a:t>high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49495A"/>
                </a:solidFill>
                <a:latin typeface="Trebuchet MS"/>
                <a:cs typeface="Trebuchet MS"/>
              </a:rPr>
              <a:t>risk;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minimal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PPAs,</a:t>
            </a:r>
            <a:endParaRPr sz="1750">
              <a:latin typeface="Trebuchet MS"/>
              <a:cs typeface="Trebuchet MS"/>
            </a:endParaRPr>
          </a:p>
          <a:p>
            <a:pPr marL="354965">
              <a:lnSpc>
                <a:spcPct val="100000"/>
              </a:lnSpc>
              <a:spcBef>
                <a:spcPts val="805"/>
              </a:spcBef>
            </a:pP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regulatory</a:t>
            </a:r>
            <a:r>
              <a:rPr sz="1750" spc="-13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uncertainty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7488" y="2827781"/>
            <a:ext cx="5455920" cy="3150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65" dirty="0">
                <a:solidFill>
                  <a:srgbClr val="403CCF"/>
                </a:solidFill>
                <a:latin typeface="Book Antiqua"/>
                <a:cs typeface="Book Antiqua"/>
              </a:rPr>
              <a:t>Key</a:t>
            </a:r>
            <a:r>
              <a:rPr sz="2200" spc="65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spc="195" dirty="0">
                <a:solidFill>
                  <a:srgbClr val="403CCF"/>
                </a:solidFill>
                <a:latin typeface="Book Antiqua"/>
                <a:cs typeface="Book Antiqua"/>
              </a:rPr>
              <a:t>Sector</a:t>
            </a:r>
            <a:r>
              <a:rPr sz="2200" spc="85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spc="135" dirty="0">
                <a:solidFill>
                  <a:srgbClr val="403CCF"/>
                </a:solidFill>
                <a:latin typeface="Book Antiqua"/>
                <a:cs typeface="Book Antiqua"/>
              </a:rPr>
              <a:t>Risk</a:t>
            </a:r>
            <a:r>
              <a:rPr sz="2200" spc="80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spc="165" dirty="0">
                <a:solidFill>
                  <a:srgbClr val="403CCF"/>
                </a:solidFill>
                <a:latin typeface="Book Antiqua"/>
                <a:cs typeface="Book Antiqua"/>
              </a:rPr>
              <a:t>Factors</a:t>
            </a:r>
            <a:endParaRPr sz="22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Regulatory</a:t>
            </a:r>
            <a:r>
              <a:rPr sz="1750" spc="-10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70" dirty="0">
                <a:solidFill>
                  <a:srgbClr val="49495A"/>
                </a:solidFill>
                <a:latin typeface="Trebuchet MS"/>
                <a:cs typeface="Trebuchet MS"/>
              </a:rPr>
              <a:t>changes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in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49495A"/>
                </a:solidFill>
                <a:latin typeface="Trebuchet MS"/>
                <a:cs typeface="Trebuchet MS"/>
              </a:rPr>
              <a:t>state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30" dirty="0">
                <a:solidFill>
                  <a:srgbClr val="49495A"/>
                </a:solidFill>
                <a:latin typeface="Trebuchet MS"/>
                <a:cs typeface="Trebuchet MS"/>
              </a:rPr>
              <a:t>tariff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49495A"/>
                </a:solidFill>
                <a:latin typeface="Trebuchet MS"/>
                <a:cs typeface="Trebuchet MS"/>
              </a:rPr>
              <a:t>policies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35" dirty="0">
                <a:solidFill>
                  <a:srgbClr val="49495A"/>
                </a:solidFill>
                <a:latin typeface="Trebuchet MS"/>
                <a:cs typeface="Trebuchet MS"/>
              </a:rPr>
              <a:t>Coal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49495A"/>
                </a:solidFill>
                <a:latin typeface="Trebuchet MS"/>
                <a:cs typeface="Trebuchet MS"/>
              </a:rPr>
              <a:t>price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5" dirty="0">
                <a:solidFill>
                  <a:srgbClr val="49495A"/>
                </a:solidFill>
                <a:latin typeface="Trebuchet MS"/>
                <a:cs typeface="Trebuchet MS"/>
              </a:rPr>
              <a:t>volati</a:t>
            </a:r>
            <a:r>
              <a:rPr sz="1750" spc="-5" dirty="0">
                <a:solidFill>
                  <a:srgbClr val="49495A"/>
                </a:solidFill>
                <a:latin typeface="Trebuchet MS"/>
                <a:cs typeface="Trebuchet MS"/>
              </a:rPr>
              <a:t>l</a:t>
            </a:r>
            <a:r>
              <a:rPr sz="1750" spc="-40" dirty="0">
                <a:solidFill>
                  <a:srgbClr val="49495A"/>
                </a:solidFill>
                <a:latin typeface="Trebuchet MS"/>
                <a:cs typeface="Trebuchet MS"/>
              </a:rPr>
              <a:t>it</a:t>
            </a:r>
            <a:r>
              <a:rPr sz="1750" spc="-50" dirty="0">
                <a:solidFill>
                  <a:srgbClr val="49495A"/>
                </a:solidFill>
                <a:latin typeface="Trebuchet MS"/>
                <a:cs typeface="Trebuchet MS"/>
              </a:rPr>
              <a:t>y</a:t>
            </a:r>
            <a:r>
              <a:rPr sz="1750" spc="-11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49495A"/>
                </a:solidFill>
                <a:latin typeface="Trebuchet MS"/>
                <a:cs typeface="Trebuchet MS"/>
              </a:rPr>
              <a:t>affectin</a:t>
            </a:r>
            <a:r>
              <a:rPr sz="1750" spc="70" dirty="0">
                <a:solidFill>
                  <a:srgbClr val="49495A"/>
                </a:solidFill>
                <a:latin typeface="Trebuchet MS"/>
                <a:cs typeface="Trebuchet MS"/>
              </a:rPr>
              <a:t>g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35" dirty="0">
                <a:solidFill>
                  <a:srgbClr val="49495A"/>
                </a:solidFill>
                <a:latin typeface="Trebuchet MS"/>
                <a:cs typeface="Trebuchet MS"/>
              </a:rPr>
              <a:t>m</a:t>
            </a:r>
            <a:r>
              <a:rPr sz="1750" spc="75" dirty="0">
                <a:solidFill>
                  <a:srgbClr val="49495A"/>
                </a:solidFill>
                <a:latin typeface="Trebuchet MS"/>
                <a:cs typeface="Trebuchet MS"/>
              </a:rPr>
              <a:t>a</a:t>
            </a:r>
            <a:r>
              <a:rPr sz="1750" spc="35" dirty="0">
                <a:solidFill>
                  <a:srgbClr val="49495A"/>
                </a:solidFill>
                <a:latin typeface="Trebuchet MS"/>
                <a:cs typeface="Trebuchet MS"/>
              </a:rPr>
              <a:t>rgi</a:t>
            </a:r>
            <a:r>
              <a:rPr sz="1750" spc="55" dirty="0">
                <a:solidFill>
                  <a:srgbClr val="49495A"/>
                </a:solidFill>
                <a:latin typeface="Trebuchet MS"/>
                <a:cs typeface="Trebuchet MS"/>
              </a:rPr>
              <a:t>n</a:t>
            </a:r>
            <a:r>
              <a:rPr sz="1750" spc="125" dirty="0">
                <a:solidFill>
                  <a:srgbClr val="49495A"/>
                </a:solidFill>
                <a:latin typeface="Trebuchet MS"/>
                <a:cs typeface="Trebuchet MS"/>
              </a:rPr>
              <a:t>s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Market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fluctuations</a:t>
            </a:r>
            <a:r>
              <a:rPr sz="1750" spc="-12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in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49495A"/>
                </a:solidFill>
                <a:latin typeface="Trebuchet MS"/>
                <a:cs typeface="Trebuchet MS"/>
              </a:rPr>
              <a:t>energy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90" dirty="0">
                <a:solidFill>
                  <a:srgbClr val="49495A"/>
                </a:solidFill>
                <a:latin typeface="Trebuchet MS"/>
                <a:cs typeface="Trebuchet MS"/>
              </a:rPr>
              <a:t>demand</a:t>
            </a:r>
            <a:r>
              <a:rPr sz="1750" spc="-6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85" dirty="0">
                <a:solidFill>
                  <a:srgbClr val="49495A"/>
                </a:solidFill>
                <a:latin typeface="Trebuchet MS"/>
                <a:cs typeface="Trebuchet MS"/>
              </a:rPr>
              <a:t>and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prices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Operational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49495A"/>
                </a:solidFill>
                <a:latin typeface="Trebuchet MS"/>
                <a:cs typeface="Trebuchet MS"/>
              </a:rPr>
              <a:t>delays</a:t>
            </a:r>
            <a:r>
              <a:rPr sz="1750" spc="-6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90" dirty="0">
                <a:solidFill>
                  <a:srgbClr val="49495A"/>
                </a:solidFill>
                <a:latin typeface="Trebuchet MS"/>
                <a:cs typeface="Trebuchet MS"/>
              </a:rPr>
              <a:t>and</a:t>
            </a:r>
            <a:r>
              <a:rPr sz="1750" spc="-6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45" dirty="0">
                <a:solidFill>
                  <a:srgbClr val="49495A"/>
                </a:solidFill>
                <a:latin typeface="Trebuchet MS"/>
                <a:cs typeface="Trebuchet MS"/>
              </a:rPr>
              <a:t>maintenance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49495A"/>
                </a:solidFill>
                <a:latin typeface="Trebuchet MS"/>
                <a:cs typeface="Trebuchet MS"/>
              </a:rPr>
              <a:t>challenges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45" dirty="0">
                <a:solidFill>
                  <a:srgbClr val="49495A"/>
                </a:solidFill>
                <a:latin typeface="Trebuchet MS"/>
                <a:cs typeface="Trebuchet MS"/>
              </a:rPr>
              <a:t>Environmental</a:t>
            </a:r>
            <a:r>
              <a:rPr sz="1750" spc="-10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regulation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49495A"/>
                </a:solidFill>
                <a:latin typeface="Trebuchet MS"/>
                <a:cs typeface="Trebuchet MS"/>
              </a:rPr>
              <a:t>impacts,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49495A"/>
                </a:solidFill>
                <a:latin typeface="Trebuchet MS"/>
                <a:cs typeface="Trebuchet MS"/>
              </a:rPr>
              <a:t>climate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5" dirty="0">
                <a:solidFill>
                  <a:srgbClr val="49495A"/>
                </a:solidFill>
                <a:latin typeface="Trebuchet MS"/>
                <a:cs typeface="Trebuchet MS"/>
              </a:rPr>
              <a:t>risks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95" dirty="0">
                <a:solidFill>
                  <a:srgbClr val="49495A"/>
                </a:solidFill>
                <a:latin typeface="Trebuchet MS"/>
                <a:cs typeface="Trebuchet MS"/>
              </a:rPr>
              <a:t>SEB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delays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49495A"/>
                </a:solidFill>
                <a:latin typeface="Trebuchet MS"/>
                <a:cs typeface="Trebuchet MS"/>
              </a:rPr>
              <a:t>with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49495A"/>
                </a:solidFill>
                <a:latin typeface="Times New Roman"/>
                <a:cs typeface="Times New Roman"/>
              </a:rPr>
              <a:t>₹</a:t>
            </a:r>
            <a:r>
              <a:rPr sz="1750" spc="-10" dirty="0">
                <a:solidFill>
                  <a:srgbClr val="49495A"/>
                </a:solidFill>
                <a:latin typeface="Trebuchet MS"/>
                <a:cs typeface="Trebuchet MS"/>
              </a:rPr>
              <a:t>1.2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lakh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45" dirty="0">
                <a:solidFill>
                  <a:srgbClr val="49495A"/>
                </a:solidFill>
                <a:latin typeface="Trebuchet MS"/>
                <a:cs typeface="Trebuchet MS"/>
              </a:rPr>
              <a:t>Cr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0" dirty="0">
                <a:solidFill>
                  <a:srgbClr val="49495A"/>
                </a:solidFill>
                <a:latin typeface="Trebuchet MS"/>
                <a:cs typeface="Trebuchet MS"/>
              </a:rPr>
              <a:t>overdue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payments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67958" y="900176"/>
            <a:ext cx="668909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5" dirty="0"/>
              <a:t>Company</a:t>
            </a:r>
            <a:r>
              <a:rPr spc="100" dirty="0"/>
              <a:t> </a:t>
            </a:r>
            <a:r>
              <a:rPr spc="290" dirty="0"/>
              <a:t>Risk</a:t>
            </a:r>
            <a:r>
              <a:rPr spc="135" dirty="0"/>
              <a:t> </a:t>
            </a:r>
            <a:r>
              <a:rPr spc="310" dirty="0"/>
              <a:t>Profiles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73635" y="1986922"/>
          <a:ext cx="7540624" cy="46657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8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3142"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750" spc="8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Company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7485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750" spc="-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Fue</a:t>
                      </a:r>
                      <a:r>
                        <a:rPr sz="175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l</a:t>
                      </a:r>
                      <a:r>
                        <a:rPr sz="1750" spc="-10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-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Ri</a:t>
                      </a:r>
                      <a:r>
                        <a:rPr sz="175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sk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748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27329" algn="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750" spc="2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SEB</a:t>
                      </a:r>
                      <a:r>
                        <a:rPr sz="1750" spc="-13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6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Exposure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748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750" spc="7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PPA</a:t>
                      </a:r>
                      <a:endParaRPr sz="1750">
                        <a:latin typeface="Tahoma"/>
                        <a:cs typeface="Tahoma"/>
                      </a:endParaRPr>
                    </a:p>
                    <a:p>
                      <a:pPr marL="23495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750" spc="5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Coverage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7485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987"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75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Power</a:t>
                      </a:r>
                      <a:r>
                        <a:rPr sz="1750" spc="-11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-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Grid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748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86055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750" spc="6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Low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750" spc="6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Low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7485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750" spc="-7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97%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748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987"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2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Tata</a:t>
                      </a:r>
                      <a:r>
                        <a:rPr sz="1750" spc="-14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8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Power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7015" algn="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9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Moderate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R="266700" algn="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9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Moderate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5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Partial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923"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6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Adani</a:t>
                      </a:r>
                      <a:r>
                        <a:rPr sz="1750" spc="-13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8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Power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5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High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5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High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-7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68%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3142">
                <a:tc>
                  <a:txBody>
                    <a:bodyPr/>
                    <a:lstStyle/>
                    <a:p>
                      <a:pPr marL="227329" marR="723900">
                        <a:lnSpc>
                          <a:spcPct val="138300"/>
                        </a:lnSpc>
                        <a:spcBef>
                          <a:spcPts val="755"/>
                        </a:spcBef>
                      </a:pPr>
                      <a:r>
                        <a:rPr sz="1750" spc="-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Relia</a:t>
                      </a:r>
                      <a:r>
                        <a:rPr sz="175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nce  </a:t>
                      </a:r>
                      <a:r>
                        <a:rPr sz="1750" spc="8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Power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9588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66700" algn="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3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Very</a:t>
                      </a:r>
                      <a:r>
                        <a:rPr sz="1750" spc="-14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5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High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R="286385" algn="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-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Ve</a:t>
                      </a:r>
                      <a:r>
                        <a:rPr sz="175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ry</a:t>
                      </a:r>
                      <a:r>
                        <a:rPr sz="1750" spc="-10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H</a:t>
                      </a:r>
                      <a:r>
                        <a:rPr sz="1750" spc="-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igh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6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Low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5556"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JSW</a:t>
                      </a:r>
                      <a:r>
                        <a:rPr sz="1750" spc="-9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Ene</a:t>
                      </a:r>
                      <a:r>
                        <a:rPr sz="1750" spc="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r</a:t>
                      </a:r>
                      <a:r>
                        <a:rPr sz="175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gy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0" algn="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3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Very</a:t>
                      </a:r>
                      <a:r>
                        <a:rPr sz="1750" spc="-14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5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High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0" algn="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90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Moderate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55" dirty="0">
                          <a:solidFill>
                            <a:srgbClr val="49495A"/>
                          </a:solidFill>
                          <a:latin typeface="Tahoma"/>
                          <a:cs typeface="Tahoma"/>
                        </a:rPr>
                        <a:t>Partial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6287770" y="3014268"/>
            <a:ext cx="7541259" cy="3645535"/>
            <a:chOff x="6287770" y="3014268"/>
            <a:chExt cx="7541259" cy="3645535"/>
          </a:xfrm>
        </p:grpSpPr>
        <p:sp>
          <p:nvSpPr>
            <p:cNvPr id="7" name="object 7"/>
            <p:cNvSpPr/>
            <p:nvPr/>
          </p:nvSpPr>
          <p:spPr>
            <a:xfrm>
              <a:off x="6287770" y="3014268"/>
              <a:ext cx="7541259" cy="658495"/>
            </a:xfrm>
            <a:custGeom>
              <a:avLst/>
              <a:gdLst/>
              <a:ahLst/>
              <a:cxnLst/>
              <a:rect l="l" t="t" r="r" b="b"/>
              <a:pathLst>
                <a:path w="7541259" h="658495">
                  <a:moveTo>
                    <a:pt x="7541132" y="0"/>
                  </a:moveTo>
                  <a:lnTo>
                    <a:pt x="0" y="0"/>
                  </a:lnTo>
                  <a:lnTo>
                    <a:pt x="0" y="657936"/>
                  </a:lnTo>
                  <a:lnTo>
                    <a:pt x="7541132" y="657936"/>
                  </a:lnTo>
                  <a:lnTo>
                    <a:pt x="7541132" y="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69224" y="3150107"/>
              <a:ext cx="572262" cy="46710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54411" y="3150107"/>
              <a:ext cx="572261" cy="4671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39600" y="3150107"/>
              <a:ext cx="572261" cy="46710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87770" y="3672255"/>
              <a:ext cx="7541259" cy="658495"/>
            </a:xfrm>
            <a:custGeom>
              <a:avLst/>
              <a:gdLst/>
              <a:ahLst/>
              <a:cxnLst/>
              <a:rect l="l" t="t" r="r" b="b"/>
              <a:pathLst>
                <a:path w="7541259" h="658495">
                  <a:moveTo>
                    <a:pt x="7541132" y="0"/>
                  </a:moveTo>
                  <a:lnTo>
                    <a:pt x="0" y="0"/>
                  </a:lnTo>
                  <a:lnTo>
                    <a:pt x="0" y="657936"/>
                  </a:lnTo>
                  <a:lnTo>
                    <a:pt x="7541132" y="657936"/>
                  </a:lnTo>
                  <a:lnTo>
                    <a:pt x="7541132" y="0"/>
                  </a:lnTo>
                  <a:close/>
                </a:path>
              </a:pathLst>
            </a:custGeom>
            <a:solidFill>
              <a:srgbClr val="FFFFFF">
                <a:alpha val="3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9224" y="3808475"/>
              <a:ext cx="572262" cy="46710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54411" y="3808475"/>
              <a:ext cx="572261" cy="46710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39600" y="3808475"/>
              <a:ext cx="572261" cy="46710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287770" y="4330242"/>
              <a:ext cx="7541259" cy="658495"/>
            </a:xfrm>
            <a:custGeom>
              <a:avLst/>
              <a:gdLst/>
              <a:ahLst/>
              <a:cxnLst/>
              <a:rect l="l" t="t" r="r" b="b"/>
              <a:pathLst>
                <a:path w="7541259" h="658495">
                  <a:moveTo>
                    <a:pt x="7541132" y="0"/>
                  </a:moveTo>
                  <a:lnTo>
                    <a:pt x="0" y="0"/>
                  </a:lnTo>
                  <a:lnTo>
                    <a:pt x="0" y="657936"/>
                  </a:lnTo>
                  <a:lnTo>
                    <a:pt x="7541132" y="657936"/>
                  </a:lnTo>
                  <a:lnTo>
                    <a:pt x="7541132" y="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69224" y="4465319"/>
              <a:ext cx="572262" cy="46862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54411" y="4465319"/>
              <a:ext cx="572261" cy="46862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39600" y="4465319"/>
              <a:ext cx="572261" cy="46862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287770" y="4988166"/>
              <a:ext cx="7541259" cy="1013460"/>
            </a:xfrm>
            <a:custGeom>
              <a:avLst/>
              <a:gdLst/>
              <a:ahLst/>
              <a:cxnLst/>
              <a:rect l="l" t="t" r="r" b="b"/>
              <a:pathLst>
                <a:path w="7541259" h="1013460">
                  <a:moveTo>
                    <a:pt x="7541132" y="0"/>
                  </a:moveTo>
                  <a:lnTo>
                    <a:pt x="0" y="0"/>
                  </a:lnTo>
                  <a:lnTo>
                    <a:pt x="0" y="1013218"/>
                  </a:lnTo>
                  <a:lnTo>
                    <a:pt x="7541132" y="1013218"/>
                  </a:lnTo>
                  <a:lnTo>
                    <a:pt x="7541132" y="0"/>
                  </a:lnTo>
                  <a:close/>
                </a:path>
              </a:pathLst>
            </a:custGeom>
            <a:solidFill>
              <a:srgbClr val="FFFFFF">
                <a:alpha val="3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69224" y="5123687"/>
              <a:ext cx="572262" cy="46710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54411" y="5123687"/>
              <a:ext cx="572261" cy="46710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039600" y="5123687"/>
              <a:ext cx="572261" cy="46710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87770" y="6001308"/>
              <a:ext cx="7541259" cy="658495"/>
            </a:xfrm>
            <a:custGeom>
              <a:avLst/>
              <a:gdLst/>
              <a:ahLst/>
              <a:cxnLst/>
              <a:rect l="l" t="t" r="r" b="b"/>
              <a:pathLst>
                <a:path w="7541259" h="658495">
                  <a:moveTo>
                    <a:pt x="7541132" y="0"/>
                  </a:moveTo>
                  <a:lnTo>
                    <a:pt x="0" y="0"/>
                  </a:lnTo>
                  <a:lnTo>
                    <a:pt x="0" y="657936"/>
                  </a:lnTo>
                  <a:lnTo>
                    <a:pt x="7541132" y="657936"/>
                  </a:lnTo>
                  <a:lnTo>
                    <a:pt x="7541132" y="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69224" y="6137147"/>
              <a:ext cx="572262" cy="46710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54411" y="6137147"/>
              <a:ext cx="572261" cy="46710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39600" y="6137147"/>
              <a:ext cx="572261" cy="46710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267958" y="6964171"/>
            <a:ext cx="532384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20" dirty="0">
                <a:solidFill>
                  <a:srgbClr val="49495A"/>
                </a:solidFill>
                <a:latin typeface="Tahoma"/>
                <a:cs typeface="Tahoma"/>
              </a:rPr>
              <a:t>SE</a:t>
            </a:r>
            <a:r>
              <a:rPr sz="1750" spc="25" dirty="0">
                <a:solidFill>
                  <a:srgbClr val="49495A"/>
                </a:solidFill>
                <a:latin typeface="Tahoma"/>
                <a:cs typeface="Tahoma"/>
              </a:rPr>
              <a:t>B</a:t>
            </a:r>
            <a:r>
              <a:rPr sz="1750" spc="-10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49495A"/>
                </a:solidFill>
                <a:latin typeface="Tahoma"/>
                <a:cs typeface="Tahoma"/>
              </a:rPr>
              <a:t>overd</a:t>
            </a:r>
            <a:r>
              <a:rPr sz="1750" spc="85" dirty="0">
                <a:solidFill>
                  <a:srgbClr val="49495A"/>
                </a:solidFill>
                <a:latin typeface="Tahoma"/>
                <a:cs typeface="Tahoma"/>
              </a:rPr>
              <a:t>u</a:t>
            </a:r>
            <a:r>
              <a:rPr sz="1750" spc="55" dirty="0">
                <a:solidFill>
                  <a:srgbClr val="49495A"/>
                </a:solidFill>
                <a:latin typeface="Tahoma"/>
                <a:cs typeface="Tahoma"/>
              </a:rPr>
              <a:t>es</a:t>
            </a:r>
            <a:r>
              <a:rPr sz="1750" spc="-10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750" spc="-275" dirty="0">
                <a:solidFill>
                  <a:srgbClr val="49495A"/>
                </a:solidFill>
                <a:latin typeface="Tahoma"/>
                <a:cs typeface="Tahoma"/>
              </a:rPr>
              <a:t>&gt;</a:t>
            </a:r>
            <a:r>
              <a:rPr sz="1750" spc="-11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49495A"/>
                </a:solidFill>
                <a:latin typeface="Times New Roman"/>
                <a:cs typeface="Times New Roman"/>
              </a:rPr>
              <a:t>₹</a:t>
            </a:r>
            <a:r>
              <a:rPr sz="1750" spc="35" dirty="0">
                <a:solidFill>
                  <a:srgbClr val="49495A"/>
                </a:solidFill>
                <a:latin typeface="Tahoma"/>
                <a:cs typeface="Tahoma"/>
              </a:rPr>
              <a:t>2</a:t>
            </a:r>
            <a:r>
              <a:rPr sz="1750" spc="5" dirty="0">
                <a:solidFill>
                  <a:srgbClr val="49495A"/>
                </a:solidFill>
                <a:latin typeface="Tahoma"/>
                <a:cs typeface="Tahoma"/>
              </a:rPr>
              <a:t>,1</a:t>
            </a:r>
            <a:r>
              <a:rPr sz="1750" spc="-10" dirty="0">
                <a:solidFill>
                  <a:srgbClr val="49495A"/>
                </a:solidFill>
                <a:latin typeface="Tahoma"/>
                <a:cs typeface="Tahoma"/>
              </a:rPr>
              <a:t>0</a:t>
            </a:r>
            <a:r>
              <a:rPr sz="1750" spc="45" dirty="0">
                <a:solidFill>
                  <a:srgbClr val="49495A"/>
                </a:solidFill>
                <a:latin typeface="Tahoma"/>
                <a:cs typeface="Tahoma"/>
              </a:rPr>
              <a:t>0</a:t>
            </a:r>
            <a:r>
              <a:rPr sz="1750" spc="-9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ahoma"/>
                <a:cs typeface="Tahoma"/>
              </a:rPr>
              <a:t>Cr</a:t>
            </a:r>
            <a:r>
              <a:rPr sz="1750" spc="-114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49495A"/>
                </a:solidFill>
                <a:latin typeface="Tahoma"/>
                <a:cs typeface="Tahoma"/>
              </a:rPr>
              <a:t>fo</a:t>
            </a:r>
            <a:r>
              <a:rPr sz="1750" spc="65" dirty="0">
                <a:solidFill>
                  <a:srgbClr val="49495A"/>
                </a:solidFill>
                <a:latin typeface="Tahoma"/>
                <a:cs typeface="Tahoma"/>
              </a:rPr>
              <a:t>r</a:t>
            </a:r>
            <a:r>
              <a:rPr sz="1750" spc="-100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49495A"/>
                </a:solidFill>
                <a:latin typeface="Tahoma"/>
                <a:cs typeface="Tahoma"/>
              </a:rPr>
              <a:t>Relia</a:t>
            </a:r>
            <a:r>
              <a:rPr sz="1750" spc="60" dirty="0">
                <a:solidFill>
                  <a:srgbClr val="49495A"/>
                </a:solidFill>
                <a:latin typeface="Tahoma"/>
                <a:cs typeface="Tahoma"/>
              </a:rPr>
              <a:t>n</a:t>
            </a:r>
            <a:r>
              <a:rPr sz="1750" spc="45" dirty="0">
                <a:solidFill>
                  <a:srgbClr val="49495A"/>
                </a:solidFill>
                <a:latin typeface="Tahoma"/>
                <a:cs typeface="Tahoma"/>
              </a:rPr>
              <a:t>ce</a:t>
            </a:r>
            <a:r>
              <a:rPr sz="1750" spc="-114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49495A"/>
                </a:solidFill>
                <a:latin typeface="Tahoma"/>
                <a:cs typeface="Tahoma"/>
              </a:rPr>
              <a:t>Power</a:t>
            </a:r>
            <a:r>
              <a:rPr sz="1750" spc="-125" dirty="0">
                <a:solidFill>
                  <a:srgbClr val="49495A"/>
                </a:solidFill>
                <a:latin typeface="Tahoma"/>
                <a:cs typeface="Tahoma"/>
              </a:rPr>
              <a:t> </a:t>
            </a:r>
            <a:r>
              <a:rPr sz="1750" spc="-45" dirty="0">
                <a:solidFill>
                  <a:srgbClr val="49495A"/>
                </a:solidFill>
                <a:latin typeface="Tahoma"/>
                <a:cs typeface="Tahoma"/>
              </a:rPr>
              <a:t>(</a:t>
            </a:r>
            <a:r>
              <a:rPr sz="1750" spc="-75" dirty="0">
                <a:solidFill>
                  <a:srgbClr val="49495A"/>
                </a:solidFill>
                <a:latin typeface="Tahoma"/>
                <a:cs typeface="Tahoma"/>
              </a:rPr>
              <a:t>2</a:t>
            </a:r>
            <a:r>
              <a:rPr sz="1750" spc="35" dirty="0">
                <a:solidFill>
                  <a:srgbClr val="49495A"/>
                </a:solidFill>
                <a:latin typeface="Tahoma"/>
                <a:cs typeface="Tahoma"/>
              </a:rPr>
              <a:t>024</a:t>
            </a:r>
            <a:r>
              <a:rPr sz="1750" spc="-155" dirty="0">
                <a:solidFill>
                  <a:srgbClr val="49495A"/>
                </a:solidFill>
                <a:latin typeface="Tahoma"/>
                <a:cs typeface="Tahoma"/>
              </a:rPr>
              <a:t>)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826745" y="7740650"/>
            <a:ext cx="1244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5" dirty="0">
                <a:latin typeface="Calibri"/>
                <a:cs typeface="Calibri"/>
                <a:hlinkClick r:id="rId15"/>
              </a:rPr>
              <a:t>preencoded.png</a:t>
            </a:r>
            <a:endParaRPr sz="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00"/>
              </a:lnSpc>
            </a:pPr>
            <a:r>
              <a:rPr spc="300" dirty="0"/>
              <a:t>Profitability</a:t>
            </a:r>
            <a:r>
              <a:rPr spc="110" dirty="0"/>
              <a:t> </a:t>
            </a:r>
            <a:r>
              <a:rPr spc="445" dirty="0"/>
              <a:t>&amp;</a:t>
            </a:r>
            <a:r>
              <a:rPr spc="150" dirty="0"/>
              <a:t> </a:t>
            </a:r>
            <a:r>
              <a:rPr spc="375" dirty="0"/>
              <a:t>Investment </a:t>
            </a:r>
            <a:r>
              <a:rPr spc="-1095" dirty="0"/>
              <a:t> </a:t>
            </a:r>
            <a:r>
              <a:rPr spc="434" dirty="0"/>
              <a:t>Recommendations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826745" y="7740650"/>
            <a:ext cx="1244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5" dirty="0">
                <a:latin typeface="Calibri"/>
                <a:cs typeface="Calibri"/>
                <a:hlinkClick r:id="rId2"/>
              </a:rPr>
              <a:t>preencoded.png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304" y="3658361"/>
            <a:ext cx="4158615" cy="2266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55" dirty="0">
                <a:solidFill>
                  <a:srgbClr val="403CCF"/>
                </a:solidFill>
                <a:latin typeface="Book Antiqua"/>
                <a:cs typeface="Book Antiqua"/>
              </a:rPr>
              <a:t>Net</a:t>
            </a:r>
            <a:r>
              <a:rPr sz="2200" spc="95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spc="160" dirty="0">
                <a:solidFill>
                  <a:srgbClr val="403CCF"/>
                </a:solidFill>
                <a:latin typeface="Book Antiqua"/>
                <a:cs typeface="Book Antiqua"/>
              </a:rPr>
              <a:t>Profit</a:t>
            </a:r>
            <a:r>
              <a:rPr sz="2200" spc="105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spc="190" dirty="0">
                <a:solidFill>
                  <a:srgbClr val="403CCF"/>
                </a:solidFill>
                <a:latin typeface="Book Antiqua"/>
                <a:cs typeface="Book Antiqua"/>
              </a:rPr>
              <a:t>Comparison</a:t>
            </a:r>
            <a:r>
              <a:rPr sz="2200" spc="110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dirty="0">
                <a:solidFill>
                  <a:srgbClr val="403CCF"/>
                </a:solidFill>
                <a:latin typeface="Book Antiqua"/>
                <a:cs typeface="Book Antiqua"/>
              </a:rPr>
              <a:t>(</a:t>
            </a:r>
            <a:r>
              <a:rPr sz="2200" dirty="0">
                <a:solidFill>
                  <a:srgbClr val="403CCF"/>
                </a:solidFill>
                <a:latin typeface="Times New Roman"/>
                <a:cs typeface="Times New Roman"/>
              </a:rPr>
              <a:t>₹</a:t>
            </a:r>
            <a:r>
              <a:rPr sz="2200" spc="80" dirty="0">
                <a:solidFill>
                  <a:srgbClr val="403CCF"/>
                </a:solidFill>
                <a:latin typeface="Times New Roman"/>
                <a:cs typeface="Times New Roman"/>
              </a:rPr>
              <a:t> </a:t>
            </a:r>
            <a:r>
              <a:rPr sz="2200" spc="125" dirty="0">
                <a:solidFill>
                  <a:srgbClr val="403CCF"/>
                </a:solidFill>
                <a:latin typeface="Book Antiqua"/>
                <a:cs typeface="Book Antiqua"/>
              </a:rPr>
              <a:t>Cr)</a:t>
            </a:r>
            <a:endParaRPr sz="22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1750" spc="60" dirty="0">
                <a:solidFill>
                  <a:srgbClr val="49495A"/>
                </a:solidFill>
                <a:latin typeface="Trebuchet MS"/>
                <a:cs typeface="Trebuchet MS"/>
              </a:rPr>
              <a:t>Power</a:t>
            </a:r>
            <a:r>
              <a:rPr sz="1750" spc="-11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49495A"/>
                </a:solidFill>
                <a:latin typeface="Trebuchet MS"/>
                <a:cs typeface="Trebuchet MS"/>
              </a:rPr>
              <a:t>Grid:</a:t>
            </a:r>
            <a:r>
              <a:rPr sz="1750" spc="-10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10,450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15" dirty="0">
                <a:solidFill>
                  <a:srgbClr val="49495A"/>
                </a:solidFill>
                <a:latin typeface="Trebuchet MS"/>
                <a:cs typeface="Trebuchet MS"/>
              </a:rPr>
              <a:t>Adani:</a:t>
            </a:r>
            <a:r>
              <a:rPr sz="1750" spc="-10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49495A"/>
                </a:solidFill>
                <a:latin typeface="Trebuchet MS"/>
                <a:cs typeface="Trebuchet MS"/>
              </a:rPr>
              <a:t>6,850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-5" dirty="0">
                <a:solidFill>
                  <a:srgbClr val="49495A"/>
                </a:solidFill>
                <a:latin typeface="Trebuchet MS"/>
                <a:cs typeface="Trebuchet MS"/>
              </a:rPr>
              <a:t>Tata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49495A"/>
                </a:solidFill>
                <a:latin typeface="Trebuchet MS"/>
                <a:cs typeface="Trebuchet MS"/>
              </a:rPr>
              <a:t>Power:</a:t>
            </a:r>
            <a:r>
              <a:rPr sz="1750" spc="-12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49495A"/>
                </a:solidFill>
                <a:latin typeface="Trebuchet MS"/>
                <a:cs typeface="Trebuchet MS"/>
              </a:rPr>
              <a:t>4,320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10" dirty="0">
                <a:solidFill>
                  <a:srgbClr val="49495A"/>
                </a:solidFill>
                <a:latin typeface="Trebuchet MS"/>
                <a:cs typeface="Trebuchet MS"/>
              </a:rPr>
              <a:t>Reliance</a:t>
            </a:r>
            <a:r>
              <a:rPr sz="1750" spc="-10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49495A"/>
                </a:solidFill>
                <a:latin typeface="Trebuchet MS"/>
                <a:cs typeface="Trebuchet MS"/>
              </a:rPr>
              <a:t>Power:</a:t>
            </a:r>
            <a:r>
              <a:rPr sz="1750" spc="-10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49495A"/>
                </a:solidFill>
                <a:latin typeface="Trebuchet MS"/>
                <a:cs typeface="Trebuchet MS"/>
              </a:rPr>
              <a:t>-1,240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49495A"/>
                </a:solidFill>
                <a:latin typeface="Trebuchet MS"/>
                <a:cs typeface="Trebuchet MS"/>
              </a:rPr>
              <a:t>(loss)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7488" y="3658361"/>
            <a:ext cx="4796155" cy="2640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80" dirty="0">
                <a:solidFill>
                  <a:srgbClr val="403CCF"/>
                </a:solidFill>
                <a:latin typeface="Book Antiqua"/>
                <a:cs typeface="Book Antiqua"/>
              </a:rPr>
              <a:t>Investment</a:t>
            </a:r>
            <a:r>
              <a:rPr sz="2200" spc="95" dirty="0">
                <a:solidFill>
                  <a:srgbClr val="403CCF"/>
                </a:solidFill>
                <a:latin typeface="Book Antiqua"/>
                <a:cs typeface="Book Antiqua"/>
              </a:rPr>
              <a:t> </a:t>
            </a:r>
            <a:r>
              <a:rPr sz="2200" spc="165" dirty="0">
                <a:solidFill>
                  <a:srgbClr val="403CCF"/>
                </a:solidFill>
                <a:latin typeface="Book Antiqua"/>
                <a:cs typeface="Book Antiqua"/>
              </a:rPr>
              <a:t>Portfolio</a:t>
            </a:r>
            <a:endParaRPr sz="22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750" spc="70" dirty="0">
                <a:solidFill>
                  <a:srgbClr val="49495A"/>
                </a:solidFill>
                <a:latin typeface="Trebuchet MS"/>
                <a:cs typeface="Trebuchet MS"/>
              </a:rPr>
              <a:t>50</a:t>
            </a:r>
            <a:r>
              <a:rPr sz="1750" spc="395" dirty="0">
                <a:solidFill>
                  <a:srgbClr val="49495A"/>
                </a:solidFill>
                <a:latin typeface="Trebuchet MS"/>
                <a:cs typeface="Trebuchet MS"/>
              </a:rPr>
              <a:t>%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95" dirty="0">
                <a:solidFill>
                  <a:srgbClr val="49495A"/>
                </a:solidFill>
                <a:latin typeface="Trebuchet MS"/>
                <a:cs typeface="Trebuchet MS"/>
              </a:rPr>
              <a:t>Po</a:t>
            </a: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wer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Gri</a:t>
            </a:r>
            <a:r>
              <a:rPr sz="1750" spc="45" dirty="0">
                <a:solidFill>
                  <a:srgbClr val="49495A"/>
                </a:solidFill>
                <a:latin typeface="Trebuchet MS"/>
                <a:cs typeface="Trebuchet MS"/>
              </a:rPr>
              <a:t>d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-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Sta</a:t>
            </a:r>
            <a:r>
              <a:rPr sz="1750" spc="45" dirty="0">
                <a:solidFill>
                  <a:srgbClr val="49495A"/>
                </a:solidFill>
                <a:latin typeface="Trebuchet MS"/>
                <a:cs typeface="Trebuchet MS"/>
              </a:rPr>
              <a:t>b</a:t>
            </a:r>
            <a:r>
              <a:rPr sz="1750" spc="-25" dirty="0">
                <a:solidFill>
                  <a:srgbClr val="49495A"/>
                </a:solidFill>
                <a:latin typeface="Trebuchet MS"/>
                <a:cs typeface="Trebuchet MS"/>
              </a:rPr>
              <a:t>l</a:t>
            </a:r>
            <a:r>
              <a:rPr sz="1750" spc="-30" dirty="0">
                <a:solidFill>
                  <a:srgbClr val="49495A"/>
                </a:solidFill>
                <a:latin typeface="Trebuchet MS"/>
                <a:cs typeface="Trebuchet MS"/>
              </a:rPr>
              <a:t>e</a:t>
            </a:r>
            <a:r>
              <a:rPr sz="1750" spc="-6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cash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flows</a:t>
            </a:r>
            <a:endParaRPr sz="1750">
              <a:latin typeface="Trebuchet MS"/>
              <a:cs typeface="Trebuchet MS"/>
            </a:endParaRPr>
          </a:p>
          <a:p>
            <a:pPr marL="12700" marR="5080">
              <a:lnSpc>
                <a:spcPct val="212600"/>
              </a:lnSpc>
            </a:pPr>
            <a:r>
              <a:rPr sz="1750" spc="180" dirty="0">
                <a:solidFill>
                  <a:srgbClr val="49495A"/>
                </a:solidFill>
                <a:latin typeface="Trebuchet MS"/>
                <a:cs typeface="Trebuchet MS"/>
              </a:rPr>
              <a:t>25%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49495A"/>
                </a:solidFill>
                <a:latin typeface="Trebuchet MS"/>
                <a:cs typeface="Trebuchet MS"/>
              </a:rPr>
              <a:t>Adani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0" dirty="0">
                <a:solidFill>
                  <a:srgbClr val="49495A"/>
                </a:solidFill>
                <a:latin typeface="Trebuchet MS"/>
                <a:cs typeface="Trebuchet MS"/>
              </a:rPr>
              <a:t>Power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-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High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49495A"/>
                </a:solidFill>
                <a:latin typeface="Trebuchet MS"/>
                <a:cs typeface="Trebuchet MS"/>
              </a:rPr>
              <a:t>growth,</a:t>
            </a:r>
            <a:r>
              <a:rPr sz="1750" spc="-10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49495A"/>
                </a:solidFill>
                <a:latin typeface="Trebuchet MS"/>
                <a:cs typeface="Trebuchet MS"/>
              </a:rPr>
              <a:t>risk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49495A"/>
                </a:solidFill>
                <a:latin typeface="Trebuchet MS"/>
                <a:cs typeface="Trebuchet MS"/>
              </a:rPr>
              <a:t>tolerance </a:t>
            </a:r>
            <a:r>
              <a:rPr sz="1750" spc="-509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70" dirty="0">
                <a:solidFill>
                  <a:srgbClr val="49495A"/>
                </a:solidFill>
                <a:latin typeface="Trebuchet MS"/>
                <a:cs typeface="Trebuchet MS"/>
              </a:rPr>
              <a:t>15</a:t>
            </a:r>
            <a:r>
              <a:rPr sz="1750" spc="395" dirty="0">
                <a:solidFill>
                  <a:srgbClr val="49495A"/>
                </a:solidFill>
                <a:latin typeface="Trebuchet MS"/>
                <a:cs typeface="Trebuchet MS"/>
              </a:rPr>
              <a:t>%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5" dirty="0">
                <a:solidFill>
                  <a:srgbClr val="49495A"/>
                </a:solidFill>
                <a:latin typeface="Trebuchet MS"/>
                <a:cs typeface="Trebuchet MS"/>
              </a:rPr>
              <a:t>Tata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0" dirty="0">
                <a:solidFill>
                  <a:srgbClr val="49495A"/>
                </a:solidFill>
                <a:latin typeface="Trebuchet MS"/>
                <a:cs typeface="Trebuchet MS"/>
              </a:rPr>
              <a:t>Power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-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45" dirty="0">
                <a:solidFill>
                  <a:srgbClr val="49495A"/>
                </a:solidFill>
                <a:latin typeface="Trebuchet MS"/>
                <a:cs typeface="Trebuchet MS"/>
              </a:rPr>
              <a:t>Renewable</a:t>
            </a: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s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49495A"/>
                </a:solidFill>
                <a:latin typeface="Trebuchet MS"/>
                <a:cs typeface="Trebuchet MS"/>
              </a:rPr>
              <a:t>tra</a:t>
            </a:r>
            <a:r>
              <a:rPr sz="1750" spc="40" dirty="0">
                <a:solidFill>
                  <a:srgbClr val="49495A"/>
                </a:solidFill>
                <a:latin typeface="Trebuchet MS"/>
                <a:cs typeface="Trebuchet MS"/>
              </a:rPr>
              <a:t>ns</a:t>
            </a: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i</a:t>
            </a:r>
            <a:r>
              <a:rPr sz="1750" spc="20" dirty="0">
                <a:solidFill>
                  <a:srgbClr val="49495A"/>
                </a:solidFill>
                <a:latin typeface="Trebuchet MS"/>
                <a:cs typeface="Trebuchet MS"/>
              </a:rPr>
              <a:t>tion</a:t>
            </a:r>
            <a:endParaRPr sz="1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50" spc="70" dirty="0">
                <a:solidFill>
                  <a:srgbClr val="49495A"/>
                </a:solidFill>
                <a:latin typeface="Trebuchet MS"/>
                <a:cs typeface="Trebuchet MS"/>
              </a:rPr>
              <a:t>10</a:t>
            </a:r>
            <a:r>
              <a:rPr sz="1750" spc="395" dirty="0">
                <a:solidFill>
                  <a:srgbClr val="49495A"/>
                </a:solidFill>
                <a:latin typeface="Trebuchet MS"/>
                <a:cs typeface="Trebuchet MS"/>
              </a:rPr>
              <a:t>%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75" dirty="0">
                <a:solidFill>
                  <a:srgbClr val="49495A"/>
                </a:solidFill>
                <a:latin typeface="Trebuchet MS"/>
                <a:cs typeface="Trebuchet MS"/>
              </a:rPr>
              <a:t>Cas</a:t>
            </a:r>
            <a:r>
              <a:rPr sz="1750" spc="114" dirty="0">
                <a:solidFill>
                  <a:srgbClr val="49495A"/>
                </a:solidFill>
                <a:latin typeface="Trebuchet MS"/>
                <a:cs typeface="Trebuchet MS"/>
              </a:rPr>
              <a:t>h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-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70" dirty="0">
                <a:solidFill>
                  <a:srgbClr val="49495A"/>
                </a:solidFill>
                <a:latin typeface="Trebuchet MS"/>
                <a:cs typeface="Trebuchet MS"/>
              </a:rPr>
              <a:t>Hedge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S</a:t>
            </a:r>
            <a:r>
              <a:rPr sz="1750" spc="70" dirty="0">
                <a:solidFill>
                  <a:srgbClr val="49495A"/>
                </a:solidFill>
                <a:latin typeface="Trebuchet MS"/>
                <a:cs typeface="Trebuchet MS"/>
              </a:rPr>
              <a:t>E</a:t>
            </a:r>
            <a:r>
              <a:rPr sz="1750" spc="140" dirty="0">
                <a:solidFill>
                  <a:srgbClr val="49495A"/>
                </a:solidFill>
                <a:latin typeface="Trebuchet MS"/>
                <a:cs typeface="Trebuchet MS"/>
              </a:rPr>
              <a:t>B</a:t>
            </a:r>
            <a:r>
              <a:rPr sz="1750" spc="-7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85" dirty="0">
                <a:solidFill>
                  <a:srgbClr val="49495A"/>
                </a:solidFill>
                <a:latin typeface="Trebuchet MS"/>
                <a:cs typeface="Trebuchet MS"/>
              </a:rPr>
              <a:t>d</a:t>
            </a: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elays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9445" y="7753350"/>
            <a:ext cx="99060" cy="15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"/>
              </a:lnSpc>
            </a:pPr>
            <a:r>
              <a:rPr sz="100" spc="5" dirty="0">
                <a:latin typeface="Calibri"/>
                <a:cs typeface="Calibri"/>
                <a:hlinkClick r:id="rId2"/>
              </a:rPr>
              <a:t>p</a:t>
            </a:r>
            <a:r>
              <a:rPr sz="100" spc="-5" dirty="0">
                <a:latin typeface="Calibri"/>
                <a:cs typeface="Calibri"/>
                <a:hlinkClick r:id="rId2"/>
              </a:rPr>
              <a:t>r</a:t>
            </a:r>
            <a:r>
              <a:rPr sz="100" spc="10" dirty="0">
                <a:latin typeface="Calibri"/>
                <a:cs typeface="Calibri"/>
                <a:hlinkClick r:id="rId2"/>
              </a:rPr>
              <a:t>ee</a:t>
            </a:r>
            <a:r>
              <a:rPr sz="100" spc="5" dirty="0">
                <a:latin typeface="Calibri"/>
                <a:cs typeface="Calibri"/>
                <a:hlinkClick r:id="rId2"/>
              </a:rPr>
              <a:t>ncod</a:t>
            </a:r>
            <a:r>
              <a:rPr sz="100" spc="10" dirty="0">
                <a:latin typeface="Calibri"/>
                <a:cs typeface="Calibri"/>
                <a:hlinkClick r:id="rId2"/>
              </a:rPr>
              <a:t>e</a:t>
            </a:r>
            <a:r>
              <a:rPr sz="100" spc="5" dirty="0">
                <a:latin typeface="Calibri"/>
                <a:cs typeface="Calibri"/>
                <a:hlinkClick r:id="rId2"/>
              </a:rPr>
              <a:t>d</a:t>
            </a:r>
            <a:r>
              <a:rPr sz="100" spc="10" dirty="0">
                <a:latin typeface="Calibri"/>
                <a:cs typeface="Calibri"/>
                <a:hlinkClick r:id="rId2"/>
              </a:rPr>
              <a:t>.</a:t>
            </a:r>
            <a:r>
              <a:rPr sz="100" spc="5" dirty="0">
                <a:latin typeface="Calibri"/>
                <a:cs typeface="Calibri"/>
                <a:hlinkClick r:id="rId2"/>
              </a:rPr>
              <a:t>png</a:t>
            </a:r>
            <a:endParaRPr sz="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72800" y="0"/>
            <a:ext cx="3657600" cy="8229600"/>
            <a:chOff x="10972800" y="0"/>
            <a:chExt cx="3657600" cy="8229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39192" y="7749538"/>
              <a:ext cx="1722627" cy="4114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72800" y="0"/>
              <a:ext cx="3657600" cy="822959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1304" y="1361389"/>
            <a:ext cx="7231380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55" dirty="0"/>
              <a:t>Conclusion</a:t>
            </a:r>
            <a:r>
              <a:rPr spc="120" dirty="0"/>
              <a:t> </a:t>
            </a:r>
            <a:r>
              <a:rPr spc="445" dirty="0"/>
              <a:t>&amp;</a:t>
            </a:r>
            <a:r>
              <a:rPr spc="145" dirty="0"/>
              <a:t> </a:t>
            </a:r>
            <a:r>
              <a:rPr spc="345" dirty="0"/>
              <a:t>Next</a:t>
            </a:r>
            <a:r>
              <a:rPr spc="150" dirty="0"/>
              <a:t> </a:t>
            </a:r>
            <a:r>
              <a:rPr spc="330" dirty="0"/>
              <a:t>Steps</a:t>
            </a:r>
          </a:p>
        </p:txBody>
      </p:sp>
      <p:sp>
        <p:nvSpPr>
          <p:cNvPr id="7" name="object 7"/>
          <p:cNvSpPr/>
          <p:nvPr/>
        </p:nvSpPr>
        <p:spPr>
          <a:xfrm>
            <a:off x="793788" y="2455036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40" h="510539">
                <a:moveTo>
                  <a:pt x="476338" y="0"/>
                </a:moveTo>
                <a:lnTo>
                  <a:pt x="34023" y="0"/>
                </a:lnTo>
                <a:lnTo>
                  <a:pt x="20782" y="2674"/>
                </a:lnTo>
                <a:lnTo>
                  <a:pt x="9967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476250"/>
                </a:lnTo>
                <a:lnTo>
                  <a:pt x="2674" y="489497"/>
                </a:lnTo>
                <a:lnTo>
                  <a:pt x="9967" y="500316"/>
                </a:lnTo>
                <a:lnTo>
                  <a:pt x="20782" y="507611"/>
                </a:lnTo>
                <a:lnTo>
                  <a:pt x="34023" y="510286"/>
                </a:lnTo>
                <a:lnTo>
                  <a:pt x="476338" y="510286"/>
                </a:lnTo>
                <a:lnTo>
                  <a:pt x="489566" y="507611"/>
                </a:lnTo>
                <a:lnTo>
                  <a:pt x="500341" y="500316"/>
                </a:lnTo>
                <a:lnTo>
                  <a:pt x="507592" y="489497"/>
                </a:lnTo>
                <a:lnTo>
                  <a:pt x="510247" y="476250"/>
                </a:lnTo>
                <a:lnTo>
                  <a:pt x="510247" y="34036"/>
                </a:lnTo>
                <a:lnTo>
                  <a:pt x="507592" y="20788"/>
                </a:lnTo>
                <a:lnTo>
                  <a:pt x="500341" y="9969"/>
                </a:lnTo>
                <a:lnTo>
                  <a:pt x="489566" y="2674"/>
                </a:lnTo>
                <a:lnTo>
                  <a:pt x="476338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28259" y="2455036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39" h="510539">
                <a:moveTo>
                  <a:pt x="476250" y="0"/>
                </a:moveTo>
                <a:lnTo>
                  <a:pt x="33908" y="0"/>
                </a:lnTo>
                <a:lnTo>
                  <a:pt x="20681" y="2674"/>
                </a:lnTo>
                <a:lnTo>
                  <a:pt x="9906" y="9969"/>
                </a:lnTo>
                <a:lnTo>
                  <a:pt x="2655" y="20788"/>
                </a:lnTo>
                <a:lnTo>
                  <a:pt x="0" y="34036"/>
                </a:lnTo>
                <a:lnTo>
                  <a:pt x="0" y="476250"/>
                </a:lnTo>
                <a:lnTo>
                  <a:pt x="2655" y="489497"/>
                </a:lnTo>
                <a:lnTo>
                  <a:pt x="9905" y="500316"/>
                </a:lnTo>
                <a:lnTo>
                  <a:pt x="20681" y="507611"/>
                </a:lnTo>
                <a:lnTo>
                  <a:pt x="33908" y="510286"/>
                </a:lnTo>
                <a:lnTo>
                  <a:pt x="476250" y="510286"/>
                </a:lnTo>
                <a:lnTo>
                  <a:pt x="489497" y="507611"/>
                </a:lnTo>
                <a:lnTo>
                  <a:pt x="500316" y="500316"/>
                </a:lnTo>
                <a:lnTo>
                  <a:pt x="507611" y="489497"/>
                </a:lnTo>
                <a:lnTo>
                  <a:pt x="510286" y="476250"/>
                </a:lnTo>
                <a:lnTo>
                  <a:pt x="510286" y="34036"/>
                </a:lnTo>
                <a:lnTo>
                  <a:pt x="507611" y="20788"/>
                </a:lnTo>
                <a:lnTo>
                  <a:pt x="500316" y="9969"/>
                </a:lnTo>
                <a:lnTo>
                  <a:pt x="489497" y="2674"/>
                </a:lnTo>
                <a:lnTo>
                  <a:pt x="476250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53302" y="2508630"/>
            <a:ext cx="3586479" cy="121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55" dirty="0">
                <a:solidFill>
                  <a:srgbClr val="49495A"/>
                </a:solidFill>
                <a:latin typeface="Book Antiqua"/>
                <a:cs typeface="Book Antiqua"/>
              </a:rPr>
              <a:t>Final</a:t>
            </a:r>
            <a:r>
              <a:rPr sz="2200" spc="55" dirty="0">
                <a:solidFill>
                  <a:srgbClr val="49495A"/>
                </a:solidFill>
                <a:latin typeface="Book Antiqua"/>
                <a:cs typeface="Book Antiqua"/>
              </a:rPr>
              <a:t> </a:t>
            </a:r>
            <a:r>
              <a:rPr sz="2200" spc="110" dirty="0">
                <a:solidFill>
                  <a:srgbClr val="49495A"/>
                </a:solidFill>
                <a:latin typeface="Book Antiqua"/>
                <a:cs typeface="Book Antiqua"/>
              </a:rPr>
              <a:t>Call</a:t>
            </a:r>
            <a:endParaRPr sz="22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-5" dirty="0">
                <a:solidFill>
                  <a:srgbClr val="49495A"/>
                </a:solidFill>
                <a:latin typeface="Trebuchet MS"/>
                <a:cs typeface="Trebuchet MS"/>
              </a:rPr>
              <a:t>Allocate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80" dirty="0">
                <a:solidFill>
                  <a:srgbClr val="49495A"/>
                </a:solidFill>
                <a:latin typeface="Trebuchet MS"/>
                <a:cs typeface="Trebuchet MS"/>
              </a:rPr>
              <a:t>60%</a:t>
            </a:r>
            <a:r>
              <a:rPr sz="1750" spc="-8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49495A"/>
                </a:solidFill>
                <a:latin typeface="Trebuchet MS"/>
                <a:cs typeface="Trebuchet MS"/>
              </a:rPr>
              <a:t>low</a:t>
            </a:r>
            <a:r>
              <a:rPr sz="1750" spc="-10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49495A"/>
                </a:solidFill>
                <a:latin typeface="Trebuchet MS"/>
                <a:cs typeface="Trebuchet MS"/>
              </a:rPr>
              <a:t>risk,</a:t>
            </a:r>
            <a:r>
              <a:rPr sz="1750" spc="-10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180" dirty="0">
                <a:solidFill>
                  <a:srgbClr val="49495A"/>
                </a:solidFill>
                <a:latin typeface="Trebuchet MS"/>
                <a:cs typeface="Trebuchet MS"/>
              </a:rPr>
              <a:t>30%</a:t>
            </a:r>
            <a:r>
              <a:rPr sz="1750" spc="-8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49495A"/>
                </a:solidFill>
                <a:latin typeface="Trebuchet MS"/>
                <a:cs typeface="Trebuchet MS"/>
              </a:rPr>
              <a:t>growth,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750" spc="180" dirty="0">
                <a:solidFill>
                  <a:srgbClr val="49495A"/>
                </a:solidFill>
                <a:latin typeface="Trebuchet MS"/>
                <a:cs typeface="Trebuchet MS"/>
              </a:rPr>
              <a:t>10%</a:t>
            </a:r>
            <a:r>
              <a:rPr sz="1750" spc="-90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65" dirty="0">
                <a:solidFill>
                  <a:srgbClr val="49495A"/>
                </a:solidFill>
                <a:latin typeface="Trebuchet MS"/>
                <a:cs typeface="Trebuchet MS"/>
              </a:rPr>
              <a:t>cash</a:t>
            </a:r>
            <a:r>
              <a:rPr sz="1750" spc="-95" dirty="0">
                <a:solidFill>
                  <a:srgbClr val="49495A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49495A"/>
                </a:solidFill>
                <a:latin typeface="Trebuchet MS"/>
                <a:cs typeface="Trebuchet MS"/>
              </a:rPr>
              <a:t>reserves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3788" y="5007864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40" h="510539">
                <a:moveTo>
                  <a:pt x="476338" y="0"/>
                </a:moveTo>
                <a:lnTo>
                  <a:pt x="34023" y="0"/>
                </a:lnTo>
                <a:lnTo>
                  <a:pt x="20782" y="2674"/>
                </a:lnTo>
                <a:lnTo>
                  <a:pt x="9967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476250"/>
                </a:lnTo>
                <a:lnTo>
                  <a:pt x="2674" y="489497"/>
                </a:lnTo>
                <a:lnTo>
                  <a:pt x="9967" y="500316"/>
                </a:lnTo>
                <a:lnTo>
                  <a:pt x="20782" y="507611"/>
                </a:lnTo>
                <a:lnTo>
                  <a:pt x="34023" y="510286"/>
                </a:lnTo>
                <a:lnTo>
                  <a:pt x="476338" y="510286"/>
                </a:lnTo>
                <a:lnTo>
                  <a:pt x="489566" y="507611"/>
                </a:lnTo>
                <a:lnTo>
                  <a:pt x="500341" y="500316"/>
                </a:lnTo>
                <a:lnTo>
                  <a:pt x="507592" y="489497"/>
                </a:lnTo>
                <a:lnTo>
                  <a:pt x="510247" y="476250"/>
                </a:lnTo>
                <a:lnTo>
                  <a:pt x="510247" y="34036"/>
                </a:lnTo>
                <a:lnTo>
                  <a:pt x="507592" y="20788"/>
                </a:lnTo>
                <a:lnTo>
                  <a:pt x="500341" y="9969"/>
                </a:lnTo>
                <a:lnTo>
                  <a:pt x="489566" y="2674"/>
                </a:lnTo>
                <a:lnTo>
                  <a:pt x="476338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0" dirty="0"/>
              <a:t>Summary</a:t>
            </a:r>
          </a:p>
          <a:p>
            <a:pPr marL="355600" marR="485775" indent="-342900">
              <a:lnSpc>
                <a:spcPct val="138300"/>
              </a:lnSpc>
              <a:spcBef>
                <a:spcPts val="94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60" dirty="0">
                <a:latin typeface="Trebuchet MS"/>
                <a:cs typeface="Trebuchet MS"/>
              </a:rPr>
              <a:t>Power</a:t>
            </a:r>
            <a:r>
              <a:rPr sz="1750" spc="-100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Grid:</a:t>
            </a:r>
            <a:r>
              <a:rPr sz="1750" spc="-95" dirty="0">
                <a:latin typeface="Trebuchet MS"/>
                <a:cs typeface="Trebuchet MS"/>
              </a:rPr>
              <a:t> </a:t>
            </a:r>
            <a:r>
              <a:rPr sz="1750" spc="55" dirty="0">
                <a:latin typeface="Trebuchet MS"/>
                <a:cs typeface="Trebuchet MS"/>
              </a:rPr>
              <a:t>Best</a:t>
            </a:r>
            <a:r>
              <a:rPr sz="1750" spc="-85" dirty="0">
                <a:latin typeface="Trebuchet MS"/>
                <a:cs typeface="Trebuchet MS"/>
              </a:rPr>
              <a:t> </a:t>
            </a:r>
            <a:r>
              <a:rPr sz="1750" spc="30" dirty="0">
                <a:latin typeface="Trebuchet MS"/>
                <a:cs typeface="Trebuchet MS"/>
              </a:rPr>
              <a:t>balance</a:t>
            </a:r>
            <a:r>
              <a:rPr sz="1750" spc="-80" dirty="0">
                <a:latin typeface="Trebuchet MS"/>
                <a:cs typeface="Trebuchet MS"/>
              </a:rPr>
              <a:t> </a:t>
            </a:r>
            <a:r>
              <a:rPr sz="1750" spc="25" dirty="0">
                <a:latin typeface="Trebuchet MS"/>
                <a:cs typeface="Trebuchet MS"/>
              </a:rPr>
              <a:t>of </a:t>
            </a:r>
            <a:r>
              <a:rPr sz="1750" spc="-515" dirty="0">
                <a:latin typeface="Trebuchet MS"/>
                <a:cs typeface="Trebuchet MS"/>
              </a:rPr>
              <a:t> </a:t>
            </a:r>
            <a:r>
              <a:rPr sz="1750" spc="50" dirty="0">
                <a:latin typeface="Trebuchet MS"/>
                <a:cs typeface="Trebuchet MS"/>
              </a:rPr>
              <a:t>growth</a:t>
            </a:r>
            <a:r>
              <a:rPr sz="1750" spc="-100" dirty="0">
                <a:latin typeface="Trebuchet MS"/>
                <a:cs typeface="Trebuchet MS"/>
              </a:rPr>
              <a:t> </a:t>
            </a:r>
            <a:r>
              <a:rPr sz="1750" spc="40" dirty="0">
                <a:latin typeface="Trebuchet MS"/>
                <a:cs typeface="Trebuchet MS"/>
              </a:rPr>
              <a:t>&amp;</a:t>
            </a:r>
            <a:r>
              <a:rPr sz="1750" spc="-95" dirty="0">
                <a:latin typeface="Trebuchet MS"/>
                <a:cs typeface="Trebuchet MS"/>
              </a:rPr>
              <a:t> </a:t>
            </a:r>
            <a:r>
              <a:rPr sz="1750" spc="-5" dirty="0">
                <a:latin typeface="Trebuchet MS"/>
                <a:cs typeface="Trebuchet MS"/>
              </a:rPr>
              <a:t>stability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3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80" dirty="0">
                <a:latin typeface="Trebuchet MS"/>
                <a:cs typeface="Trebuchet MS"/>
              </a:rPr>
              <a:t>Monitor</a:t>
            </a:r>
            <a:r>
              <a:rPr sz="1750" spc="-125" dirty="0">
                <a:latin typeface="Trebuchet MS"/>
                <a:cs typeface="Trebuchet MS"/>
              </a:rPr>
              <a:t> </a:t>
            </a:r>
            <a:r>
              <a:rPr sz="1750" spc="-5" dirty="0">
                <a:latin typeface="Trebuchet MS"/>
                <a:cs typeface="Trebuchet MS"/>
              </a:rPr>
              <a:t>Tata</a:t>
            </a:r>
            <a:r>
              <a:rPr sz="1750" spc="-90" dirty="0">
                <a:latin typeface="Trebuchet MS"/>
                <a:cs typeface="Trebuchet MS"/>
              </a:rPr>
              <a:t> </a:t>
            </a:r>
            <a:r>
              <a:rPr sz="1750" spc="10" dirty="0">
                <a:latin typeface="Trebuchet MS"/>
                <a:cs typeface="Trebuchet MS"/>
              </a:rPr>
              <a:t>Power’s</a:t>
            </a:r>
            <a:r>
              <a:rPr sz="1750" spc="-125" dirty="0">
                <a:latin typeface="Trebuchet MS"/>
                <a:cs typeface="Trebuchet MS"/>
              </a:rPr>
              <a:t> </a:t>
            </a:r>
            <a:r>
              <a:rPr sz="1750" spc="40" dirty="0">
                <a:latin typeface="Trebuchet MS"/>
                <a:cs typeface="Trebuchet MS"/>
              </a:rPr>
              <a:t>renewable</a:t>
            </a:r>
            <a:endParaRPr sz="175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805"/>
              </a:spcBef>
            </a:pPr>
            <a:r>
              <a:rPr sz="1750" spc="65" dirty="0">
                <a:latin typeface="Trebuchet MS"/>
                <a:cs typeface="Trebuchet MS"/>
              </a:rPr>
              <a:t>expansion</a:t>
            </a:r>
            <a:endParaRPr sz="1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pc="165" dirty="0"/>
              <a:t>Key</a:t>
            </a:r>
            <a:r>
              <a:rPr spc="65" dirty="0"/>
              <a:t> </a:t>
            </a:r>
            <a:r>
              <a:rPr spc="140" dirty="0"/>
              <a:t>Data</a:t>
            </a:r>
            <a:r>
              <a:rPr spc="100" dirty="0"/>
              <a:t> </a:t>
            </a:r>
            <a:r>
              <a:rPr spc="180" dirty="0"/>
              <a:t>Sources</a:t>
            </a:r>
          </a:p>
          <a:p>
            <a:pPr marL="355600" indent="-342900">
              <a:lnSpc>
                <a:spcPct val="100000"/>
              </a:lnSpc>
              <a:spcBef>
                <a:spcPts val="1739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u="sng" spc="6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5"/>
              </a:rPr>
              <a:t>Power</a:t>
            </a:r>
            <a:r>
              <a:rPr sz="1750" u="sng" spc="-10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750" u="sng" spc="3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5"/>
              </a:rPr>
              <a:t>Grid</a:t>
            </a:r>
            <a:r>
              <a:rPr sz="1750" u="sng" spc="-9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750" u="sng" spc="6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5"/>
              </a:rPr>
              <a:t>Annual</a:t>
            </a:r>
            <a:r>
              <a:rPr sz="1750" u="sng" spc="-9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750" u="sng" spc="4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5"/>
              </a:rPr>
              <a:t>Report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u="sng" spc="5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6"/>
              </a:rPr>
              <a:t>Adani</a:t>
            </a:r>
            <a:r>
              <a:rPr sz="1750" u="sng" spc="-8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750" u="sng" spc="6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6"/>
              </a:rPr>
              <a:t>Power</a:t>
            </a:r>
            <a:r>
              <a:rPr sz="1750" u="sng" spc="-10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750" u="sng" spc="9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6"/>
              </a:rPr>
              <a:t>BSE</a:t>
            </a:r>
            <a:r>
              <a:rPr sz="1750" u="sng" spc="-100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750" u="sng" spc="-5" dirty="0">
                <a:solidFill>
                  <a:srgbClr val="403CCF"/>
                </a:solidFill>
                <a:uFill>
                  <a:solidFill>
                    <a:srgbClr val="403CCF"/>
                  </a:solidFill>
                </a:uFill>
                <a:latin typeface="Trebuchet MS"/>
                <a:cs typeface="Trebuchet MS"/>
                <a:hlinkClick r:id="rId6"/>
              </a:rPr>
              <a:t>Filing</a:t>
            </a:r>
            <a:endParaRPr sz="17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  <a:tab pos="355600" algn="l"/>
              </a:tabLst>
            </a:pPr>
            <a:r>
              <a:rPr sz="1750" spc="45" dirty="0">
                <a:latin typeface="Trebuchet MS"/>
                <a:cs typeface="Trebuchet MS"/>
              </a:rPr>
              <a:t>ICRA</a:t>
            </a:r>
            <a:r>
              <a:rPr sz="1750" spc="-110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Utilities</a:t>
            </a:r>
            <a:r>
              <a:rPr sz="1750" spc="-114" dirty="0">
                <a:latin typeface="Trebuchet MS"/>
                <a:cs typeface="Trebuchet MS"/>
              </a:rPr>
              <a:t> </a:t>
            </a:r>
            <a:r>
              <a:rPr sz="1750" spc="40" dirty="0">
                <a:latin typeface="Trebuchet MS"/>
                <a:cs typeface="Trebuchet MS"/>
              </a:rPr>
              <a:t>Report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757</Words>
  <Application>Microsoft Office PowerPoint</Application>
  <PresentationFormat>Custom</PresentationFormat>
  <Paragraphs>159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Book Antiqua</vt:lpstr>
      <vt:lpstr>Calibri</vt:lpstr>
      <vt:lpstr>Lucida Sans Unicode</vt:lpstr>
      <vt:lpstr>Tahoma</vt:lpstr>
      <vt:lpstr>Times New Roman</vt:lpstr>
      <vt:lpstr>Trebuchet MS</vt:lpstr>
      <vt:lpstr>Verdana</vt:lpstr>
      <vt:lpstr>Office Theme</vt:lpstr>
      <vt:lpstr>Research and Investment Recommendations in the  Utilities Sector</vt:lpstr>
      <vt:lpstr>Project Objective &amp; Scope</vt:lpstr>
      <vt:lpstr>Sector Overview &amp; Market Dynamics</vt:lpstr>
      <vt:lpstr>Power Purchase  Agreements (PPAs)</vt:lpstr>
      <vt:lpstr>Key Sector Drivers &amp; Research Methodology</vt:lpstr>
      <vt:lpstr>Top Indian Utilities Companies</vt:lpstr>
      <vt:lpstr>Financial Metrics Overview &amp; Comparison</vt:lpstr>
      <vt:lpstr>Company Risk Profiles &amp; Sector Risks</vt:lpstr>
      <vt:lpstr>Company Risk Profiles</vt:lpstr>
      <vt:lpstr>Profitability &amp; Investment  Recommendations</vt:lpstr>
      <vt:lpstr>Conclusion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SANKALP KHAMKAR</cp:lastModifiedBy>
  <cp:revision>2</cp:revision>
  <dcterms:created xsi:type="dcterms:W3CDTF">2025-05-05T19:53:25Z</dcterms:created>
  <dcterms:modified xsi:type="dcterms:W3CDTF">2025-05-05T20:49:43Z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2025-05-05T00:00:00Z</vt:filetime>
  </property>
</Properties>
</file>