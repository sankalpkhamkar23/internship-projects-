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DM Sans" pitchFamily="2" charset="0"/>
      <p:regular r:id="rId13"/>
      <p:bold r:id="rId14"/>
    </p:embeddedFont>
    <p:embeddedFont>
      <p:font typeface="PT Serif" panose="020A0603040505020204" pitchFamily="18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4549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40F17-7473-48EF-DF52-11A9F3EB93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102448-EB7E-82B7-431E-0185D168A8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A7C1A-1330-FDF6-AFA9-2FA99E4A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BF622-186A-4A23-8310-54E7781347C7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84400-155D-BB25-66D4-F7680C66F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50B5F-25AD-49C3-4984-F5897E727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0B419-93BD-4360-A3AF-6D89004CF7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5441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B94EC-25EB-FC86-E5C6-541F67FC0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2D402-FE3F-8BDE-2AE3-14B80DFA6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E3B12-135E-2A06-66FD-2C3646AA0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BF622-186A-4A23-8310-54E7781347C7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3E01B-D078-C609-6460-950191A51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00475-0085-F5E6-198C-2CC14B02E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0B419-93BD-4360-A3AF-6D89004CF7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92883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CBF0D-CF5F-2336-1687-82207DC9B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7DBBED-B7A0-2C5D-61B3-214FDFEE3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52DB6-9680-E276-F32C-4C9900545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BF622-186A-4A23-8310-54E7781347C7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E59C1-06A0-7058-52C2-AD07EA3C6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E9B86-0C22-E471-1890-5FD68E740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0B419-93BD-4360-A3AF-6D89004CF7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875010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9445A-89EC-9307-E44C-983FBE838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A85AA-EDB4-4001-8280-1BFCE8ACD2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345BB4-686C-CC98-E921-F5AA3FFA49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80E815-F10F-FD36-382D-3F3D17EEA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BF622-186A-4A23-8310-54E7781347C7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BC7EA5-718F-1C59-DA89-0DD830931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703A8-7511-F8D7-62BD-2CE5D9FF2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0B419-93BD-4360-A3AF-6D89004CF7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909209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4C23D-DC9C-DF86-0366-84608C614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C3168B-D236-581D-D67C-048E010CDF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A7171E-6E8F-6402-CECA-6D5979FC65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E277A7-1965-EBE8-D998-EC196935CA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157BA3-BA77-4E8D-BB27-1DD17AACA6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C7418D-0D9F-EA0A-BDAF-322CCEDB9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BF622-186A-4A23-8310-54E7781347C7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258CC2-9A24-A776-EEFC-A6FA0E322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81F50A-D157-9985-4799-E393146A3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0B419-93BD-4360-A3AF-6D89004CF7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729788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04CA5-A413-ED73-59EC-84DC44079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126D7A-890A-3A21-4C78-9D4EA7E15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BF622-186A-4A23-8310-54E7781347C7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72B0FF-A080-DA34-5A2C-7684DFC94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0DD662-66F6-A007-1C9D-6871859AA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0B419-93BD-4360-A3AF-6D89004CF7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662836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7DF51B-41F5-5B2B-5EC2-A411CA22C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BF622-186A-4A23-8310-54E7781347C7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7FE17C-028E-7414-8AB8-6FDE6E1B5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998724-934A-B5CA-5854-40FDD211C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0B419-93BD-4360-A3AF-6D89004CF7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109208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532FE-7D82-2120-C157-3FC7E661B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CFDA5-6E4E-93AF-38CC-CC37B538A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5F904C-DE78-8ECC-846F-BA5F399AE3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FD27A0-AA87-934E-685C-BA4779F29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BF622-186A-4A23-8310-54E7781347C7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FE9024-16F0-5D85-E9DF-266E7463B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C62A9A-E6D5-E672-6A6D-F6E3D7B09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0B419-93BD-4360-A3AF-6D89004CF7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13276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81F6E-E5F5-C170-7954-3066DB059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8A85FD-DB0C-4447-648D-7F6030F601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053A88-3FEE-43B0-2134-3047CDDAFD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62B081-3088-B4BC-A409-5E1D589B6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BF622-186A-4A23-8310-54E7781347C7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958A00-5CAD-33A9-904E-4D637B978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233648-7E4C-3E22-F0D0-0C60D4333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0B419-93BD-4360-A3AF-6D89004CF7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2076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DE28B-FAB0-094E-1C55-6C8E0B111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43B662-4EF7-E630-34BF-849CA39F09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6625A5-3EA9-957B-0838-E75B4723C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BF622-186A-4A23-8310-54E7781347C7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7EC35-B1B4-57D3-D3BE-246D5B134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8CAB80-DD53-B63B-9095-8A143CE7C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0B419-93BD-4360-A3AF-6D89004CF7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055005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3F2DA7-7335-08A5-3F6C-65DCFE9BB8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99BB6C-9B34-4B68-F5A1-35010EB0E4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66C65-D8A6-B500-DB1E-C3DD0FB41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BF622-186A-4A23-8310-54E7781347C7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47575-D30E-17C5-6597-CE9ACF199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AED9E9-2FC6-4619-103A-E5666B726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0B419-93BD-4360-A3AF-6D89004CF7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5354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93270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83289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47426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1099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23534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83790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21801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43904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9272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49C9A3-B513-036A-F308-1B4554CE8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8F556-CF34-5494-4621-7B4B970A7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D2929-8916-CD50-9048-BED5BFD48B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EBF622-186A-4A23-8310-54E7781347C7}" type="datetimeFigureOut">
              <a:rPr lang="en-IN" smtClean="0"/>
              <a:t>06-03-2025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E3AD1-4B53-0C0F-4560-DECC3AB1C4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3B076-E593-80EB-B891-AFA44B4B18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90B419-93BD-4360-A3AF-6D89004CF7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284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957983"/>
            <a:ext cx="7556421" cy="2232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PVR-INOX Merger: A Strategic Analysis of India’s Largest Multiplex Merger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6280190" y="4530923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presentation analyzes the strategic rationale, synergy potential, and financial implications of the landmark PVR-INOX merger in India’s film exhibition industry.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891689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20158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Executive Summary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367319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870347" y="3705106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530906" y="3673197"/>
            <a:ext cx="345924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merger was completed on </a:t>
            </a: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January 12, 2023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67319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5293519" y="3705106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54078" y="3673197"/>
            <a:ext cx="345924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combined entity, </a:t>
            </a: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PVR-INOX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is now India’s largest film exhibition company.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67319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9716691" y="3705106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0377249" y="3673197"/>
            <a:ext cx="345924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combined entity holds approximately </a:t>
            </a: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45-50%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of the market share.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24387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870347" y="5275778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530906" y="5243870"/>
            <a:ext cx="56709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merger was valued at </a:t>
            </a: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INR 18,134 Crore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667" y="524387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7505224" y="5275778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5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165783" y="5243870"/>
            <a:ext cx="56709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swap ratio was </a:t>
            </a: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shares of PVR for 10 shares of INOX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5412938" cy="676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300"/>
              </a:lnSpc>
              <a:buNone/>
            </a:pPr>
            <a:r>
              <a:rPr lang="en-US" sz="4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Deal Overview</a:t>
            </a:r>
            <a:endParaRPr lang="en-US" sz="4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638" y="1784628"/>
            <a:ext cx="4549609" cy="33905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1697" y="5547235"/>
            <a:ext cx="2706410" cy="338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2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PVR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714019" y="5927580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Founded in 1997, PVR is a leading multiplex chain with a strong presence across India and Sri Lanka.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0154" y="1784628"/>
            <a:ext cx="4549609" cy="341220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692614" y="5626015"/>
            <a:ext cx="2706410" cy="338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2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INOX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7574280" y="5927580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Established in 2002, INOX is a significant multiplex chain operating in 73 cities across India.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41202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Strategic Rationale</a:t>
            </a:r>
            <a:endParaRPr lang="en-US" sz="46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2125623"/>
            <a:ext cx="1134070" cy="168759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54422" y="235243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Market Expansion</a:t>
            </a:r>
            <a:endParaRPr lang="en-US" sz="2300" dirty="0"/>
          </a:p>
        </p:txBody>
      </p:sp>
      <p:sp>
        <p:nvSpPr>
          <p:cNvPr id="6" name="Text 2"/>
          <p:cNvSpPr/>
          <p:nvPr/>
        </p:nvSpPr>
        <p:spPr>
          <a:xfrm>
            <a:off x="7754422" y="2860596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a dominant platform, capturing a significant share of the Indian multiplex market.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3813215"/>
            <a:ext cx="1134070" cy="168759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54422" y="404002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Cost Efficiency</a:t>
            </a:r>
            <a:endParaRPr lang="en-US" sz="2300" dirty="0"/>
          </a:p>
        </p:txBody>
      </p:sp>
      <p:sp>
        <p:nvSpPr>
          <p:cNvPr id="9" name="Text 4"/>
          <p:cNvSpPr/>
          <p:nvPr/>
        </p:nvSpPr>
        <p:spPr>
          <a:xfrm>
            <a:off x="7754422" y="4548187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Leverage economies of scale through combined procurement, operational integration, and technology.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0190" y="5500807"/>
            <a:ext cx="1134070" cy="168759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54422" y="5727621"/>
            <a:ext cx="3393400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Technology &amp; Innovation</a:t>
            </a:r>
            <a:endParaRPr lang="en-US" sz="2300" dirty="0"/>
          </a:p>
        </p:txBody>
      </p:sp>
      <p:sp>
        <p:nvSpPr>
          <p:cNvPr id="12" name="Text 6"/>
          <p:cNvSpPr/>
          <p:nvPr/>
        </p:nvSpPr>
        <p:spPr>
          <a:xfrm>
            <a:off x="7754422" y="6235779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Combine best practices in cinema technology, offering premium cinematic experiences.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1939528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Synergy Analysis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1048941" y="3023949"/>
            <a:ext cx="30480" cy="3266123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5" name="Shape 2"/>
          <p:cNvSpPr/>
          <p:nvPr/>
        </p:nvSpPr>
        <p:spPr>
          <a:xfrm>
            <a:off x="1273612" y="3519011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6" name="Shape 3"/>
          <p:cNvSpPr/>
          <p:nvPr/>
        </p:nvSpPr>
        <p:spPr>
          <a:xfrm>
            <a:off x="793790" y="327910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7" name="Text 4"/>
          <p:cNvSpPr/>
          <p:nvPr/>
        </p:nvSpPr>
        <p:spPr>
          <a:xfrm>
            <a:off x="870347" y="3311009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2183011" y="3250763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Reduced procurement costs and centralized operations.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1273612" y="4562356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10" name="Shape 7"/>
          <p:cNvSpPr/>
          <p:nvPr/>
        </p:nvSpPr>
        <p:spPr>
          <a:xfrm>
            <a:off x="793790" y="432244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870347" y="4354354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2183011" y="4294108"/>
            <a:ext cx="61671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Improved food &amp; beverage offerings, cross-selling, and advertising revenues.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1273612" y="5968603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14" name="Shape 11"/>
          <p:cNvSpPr/>
          <p:nvPr/>
        </p:nvSpPr>
        <p:spPr>
          <a:xfrm>
            <a:off x="793790" y="572869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5" name="Text 12"/>
          <p:cNvSpPr/>
          <p:nvPr/>
        </p:nvSpPr>
        <p:spPr>
          <a:xfrm>
            <a:off x="870347" y="5760601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2183011" y="5700355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Optimized screen expansion and technology investments.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00845" y="649009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 Forma Financial Statements</a:t>
            </a:r>
          </a:p>
          <a:p>
            <a:pPr marL="0" indent="0">
              <a:lnSpc>
                <a:spcPts val="5850"/>
              </a:lnSpc>
              <a:buNone/>
            </a:pP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6280190" y="3070503"/>
            <a:ext cx="7556421" cy="3917156"/>
          </a:xfrm>
          <a:prstGeom prst="roundRect">
            <a:avLst>
              <a:gd name="adj" fmla="val 86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87810" y="3078123"/>
            <a:ext cx="7540347" cy="50661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515457" y="3221831"/>
            <a:ext cx="20557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Revenue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9032438" y="3221831"/>
            <a:ext cx="205192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₹5,300 Crore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1545610" y="3221831"/>
            <a:ext cx="20557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₹6,200 Crore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6287810" y="3728442"/>
            <a:ext cx="7540347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515457" y="3872151"/>
            <a:ext cx="20557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EBITDA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9032438" y="3872151"/>
            <a:ext cx="205192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₹1,800 Crore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1545610" y="3872151"/>
            <a:ext cx="20557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₹2,000 Crore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6287810" y="4378762"/>
            <a:ext cx="7540347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6515457" y="4522470"/>
            <a:ext cx="20557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Screens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9032438" y="4522470"/>
            <a:ext cx="205192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1,508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11545610" y="4522470"/>
            <a:ext cx="20557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1,730+</a:t>
            </a:r>
            <a:endParaRPr lang="en-US" sz="1750" dirty="0"/>
          </a:p>
        </p:txBody>
      </p:sp>
      <p:sp>
        <p:nvSpPr>
          <p:cNvPr id="17" name="Shape 14"/>
          <p:cNvSpPr/>
          <p:nvPr/>
        </p:nvSpPr>
        <p:spPr>
          <a:xfrm>
            <a:off x="6287810" y="5029081"/>
            <a:ext cx="7540347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6515457" y="5172789"/>
            <a:ext cx="20557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Seats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9032438" y="5172789"/>
            <a:ext cx="205192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335,000</a:t>
            </a:r>
            <a:endParaRPr lang="en-US" sz="1750" dirty="0"/>
          </a:p>
        </p:txBody>
      </p:sp>
      <p:sp>
        <p:nvSpPr>
          <p:cNvPr id="20" name="Text 17"/>
          <p:cNvSpPr/>
          <p:nvPr/>
        </p:nvSpPr>
        <p:spPr>
          <a:xfrm>
            <a:off x="11545610" y="5172789"/>
            <a:ext cx="20557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365,000+</a:t>
            </a:r>
            <a:endParaRPr lang="en-US" sz="1750" dirty="0"/>
          </a:p>
        </p:txBody>
      </p:sp>
      <p:sp>
        <p:nvSpPr>
          <p:cNvPr id="21" name="Shape 18"/>
          <p:cNvSpPr/>
          <p:nvPr/>
        </p:nvSpPr>
        <p:spPr>
          <a:xfrm>
            <a:off x="6287810" y="5679400"/>
            <a:ext cx="7540347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6515457" y="5823109"/>
            <a:ext cx="20557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Occupancy</a:t>
            </a:r>
            <a:endParaRPr lang="en-US" sz="1750" dirty="0"/>
          </a:p>
        </p:txBody>
      </p:sp>
      <p:sp>
        <p:nvSpPr>
          <p:cNvPr id="23" name="Text 20"/>
          <p:cNvSpPr/>
          <p:nvPr/>
        </p:nvSpPr>
        <p:spPr>
          <a:xfrm>
            <a:off x="9032438" y="5823109"/>
            <a:ext cx="205192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30%</a:t>
            </a:r>
            <a:endParaRPr lang="en-US" sz="1750" dirty="0"/>
          </a:p>
        </p:txBody>
      </p:sp>
      <p:sp>
        <p:nvSpPr>
          <p:cNvPr id="24" name="Text 21"/>
          <p:cNvSpPr/>
          <p:nvPr/>
        </p:nvSpPr>
        <p:spPr>
          <a:xfrm>
            <a:off x="11545610" y="5823109"/>
            <a:ext cx="20557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33%</a:t>
            </a:r>
            <a:endParaRPr lang="en-US" sz="1750" dirty="0"/>
          </a:p>
        </p:txBody>
      </p:sp>
      <p:sp>
        <p:nvSpPr>
          <p:cNvPr id="25" name="Shape 22"/>
          <p:cNvSpPr/>
          <p:nvPr/>
        </p:nvSpPr>
        <p:spPr>
          <a:xfrm>
            <a:off x="6287810" y="6329720"/>
            <a:ext cx="7540347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6515457" y="6473428"/>
            <a:ext cx="20557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Footfall</a:t>
            </a:r>
            <a:endParaRPr lang="en-US" sz="1750" dirty="0"/>
          </a:p>
        </p:txBody>
      </p:sp>
      <p:sp>
        <p:nvSpPr>
          <p:cNvPr id="27" name="Text 24"/>
          <p:cNvSpPr/>
          <p:nvPr/>
        </p:nvSpPr>
        <p:spPr>
          <a:xfrm>
            <a:off x="9032438" y="6473428"/>
            <a:ext cx="205192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153 Mn</a:t>
            </a:r>
            <a:endParaRPr lang="en-US" sz="1750" dirty="0"/>
          </a:p>
        </p:txBody>
      </p:sp>
      <p:sp>
        <p:nvSpPr>
          <p:cNvPr id="28" name="Text 25"/>
          <p:cNvSpPr/>
          <p:nvPr/>
        </p:nvSpPr>
        <p:spPr>
          <a:xfrm>
            <a:off x="11545610" y="6473428"/>
            <a:ext cx="20557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165+ Mn</a:t>
            </a:r>
            <a:endParaRPr lang="en-US" sz="1750" dirty="0"/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FE818342-9F60-17E2-E672-D69B31026C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3199270"/>
              </p:ext>
            </p:extLst>
          </p:nvPr>
        </p:nvGraphicFramePr>
        <p:xfrm>
          <a:off x="6287809" y="2427804"/>
          <a:ext cx="7540347" cy="65236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13449">
                  <a:extLst>
                    <a:ext uri="{9D8B030D-6E8A-4147-A177-3AD203B41FA5}">
                      <a16:colId xmlns:a16="http://schemas.microsoft.com/office/drawing/2014/main" val="4142632319"/>
                    </a:ext>
                  </a:extLst>
                </a:gridCol>
                <a:gridCol w="2513449">
                  <a:extLst>
                    <a:ext uri="{9D8B030D-6E8A-4147-A177-3AD203B41FA5}">
                      <a16:colId xmlns:a16="http://schemas.microsoft.com/office/drawing/2014/main" val="1402632644"/>
                    </a:ext>
                  </a:extLst>
                </a:gridCol>
                <a:gridCol w="2513449">
                  <a:extLst>
                    <a:ext uri="{9D8B030D-6E8A-4147-A177-3AD203B41FA5}">
                      <a16:colId xmlns:a16="http://schemas.microsoft.com/office/drawing/2014/main" val="3780841897"/>
                    </a:ext>
                  </a:extLst>
                </a:gridCol>
              </a:tblGrid>
              <a:tr h="65236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Metric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>
                          <a:effectLst/>
                        </a:rPr>
                        <a:t>FY23 (Combined)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kern="0" dirty="0">
                          <a:effectLst/>
                        </a:rPr>
                        <a:t>FY24 (Projected)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24130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073950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Valuation Impact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6280190" y="3271718"/>
            <a:ext cx="7556421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17.4B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8569881" y="430351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Valuation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6280190" y="481167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Post-merger valuation (INR)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542972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merger is expected to create significant value for shareholders, driven by enhanced market share, cost synergies, and revenue growth.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90080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Risk Analysis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793790" y="2674501"/>
            <a:ext cx="3664863" cy="2050494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290131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Regulatory Risks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020604" y="3409474"/>
            <a:ext cx="3211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Potential antitrust scrutiny due to the combined entity's significant market share.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2674501"/>
            <a:ext cx="3664863" cy="2050494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4912281" y="290131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Cultural Integration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4912281" y="3409474"/>
            <a:ext cx="3211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Challenges in merging different management styles and corporate cultures.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4951809"/>
            <a:ext cx="7556421" cy="1687592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1020604" y="517862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Synergy Realization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1020604" y="5686782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Risk of overestimating cost and revenue synergies, leading to potential shortfalls.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B42D93-DDA5-114E-6EBC-63063F2B7053}"/>
              </a:ext>
            </a:extLst>
          </p:cNvPr>
          <p:cNvSpPr txBox="1"/>
          <p:nvPr/>
        </p:nvSpPr>
        <p:spPr>
          <a:xfrm>
            <a:off x="1043492" y="1140311"/>
            <a:ext cx="9929308" cy="5093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Deal Recommendations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Actionable Insights: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Emphasize premium cinema formats to counter OTT competition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Invest in unified loyalty programs and digital engagement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Implement phased integration to minimize disruptions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IN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Sources &amp; References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Sources: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Publicly available company filings, annual reports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Bloomberg, FactSet, and other financial data sources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Relevant industry reports (general reference without mentioning internal files)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3419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9DF12-D5B8-B7B0-1C2B-F68B697B9E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THANKYOU.</a:t>
            </a:r>
          </a:p>
        </p:txBody>
      </p:sp>
    </p:spTree>
    <p:extLst>
      <p:ext uri="{BB962C8B-B14F-4D97-AF65-F5344CB8AC3E}">
        <p14:creationId xmlns:p14="http://schemas.microsoft.com/office/powerpoint/2010/main" val="4033071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414</Words>
  <Application>Microsoft Office PowerPoint</Application>
  <PresentationFormat>Custom</PresentationFormat>
  <Paragraphs>86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Calibri</vt:lpstr>
      <vt:lpstr>DM Sans</vt:lpstr>
      <vt:lpstr>Courier New</vt:lpstr>
      <vt:lpstr>PT Serif</vt:lpstr>
      <vt:lpstr>Symbol</vt:lpstr>
      <vt:lpstr>Calibri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THANKYOU.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SANKALP KHAMKAR</cp:lastModifiedBy>
  <cp:revision>2</cp:revision>
  <dcterms:created xsi:type="dcterms:W3CDTF">2025-03-05T19:01:41Z</dcterms:created>
  <dcterms:modified xsi:type="dcterms:W3CDTF">2025-03-06T02:36:04Z</dcterms:modified>
</cp:coreProperties>
</file>